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embeddedFontLst>
    <p:embeddedFont>
      <p:font typeface="Epilogue"/>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Epilogue-bold.fntdata"/><Relationship Id="rId16" Type="http://schemas.openxmlformats.org/officeDocument/2006/relationships/font" Target="fonts/Epilogue-regular.fntdata"/><Relationship Id="rId5" Type="http://schemas.openxmlformats.org/officeDocument/2006/relationships/slide" Target="slides/slide1.xml"/><Relationship Id="rId19" Type="http://schemas.openxmlformats.org/officeDocument/2006/relationships/font" Target="fonts/Epilogue-boldItalic.fntdata"/><Relationship Id="rId6" Type="http://schemas.openxmlformats.org/officeDocument/2006/relationships/slide" Target="slides/slide2.xml"/><Relationship Id="rId18" Type="http://schemas.openxmlformats.org/officeDocument/2006/relationships/font" Target="fonts/Epilogue-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24.png"/><Relationship Id="rId11" Type="http://schemas.openxmlformats.org/officeDocument/2006/relationships/image" Target="../media/image19.png"/><Relationship Id="rId10" Type="http://schemas.openxmlformats.org/officeDocument/2006/relationships/image" Target="../media/image13.png"/><Relationship Id="rId9"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1.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21.png"/><Relationship Id="rId13" Type="http://schemas.openxmlformats.org/officeDocument/2006/relationships/image" Target="../media/image28.png"/><Relationship Id="rId12"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2.png"/><Relationship Id="rId9" Type="http://schemas.openxmlformats.org/officeDocument/2006/relationships/image" Target="../media/image29.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9.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45.png"/><Relationship Id="rId13" Type="http://schemas.openxmlformats.org/officeDocument/2006/relationships/image" Target="../media/image37.png"/><Relationship Id="rId12"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46.png"/><Relationship Id="rId9" Type="http://schemas.openxmlformats.org/officeDocument/2006/relationships/image" Target="../media/image25.png"/><Relationship Id="rId5" Type="http://schemas.openxmlformats.org/officeDocument/2006/relationships/image" Target="../media/image14.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54.png"/></Relationships>
</file>

<file path=ppt/slides/_rels/slide6.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43.png"/><Relationship Id="rId12"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46.png"/><Relationship Id="rId9" Type="http://schemas.openxmlformats.org/officeDocument/2006/relationships/image" Target="../media/image40.png"/><Relationship Id="rId5" Type="http://schemas.openxmlformats.org/officeDocument/2006/relationships/image" Target="../media/image14.png"/><Relationship Id="rId6" Type="http://schemas.openxmlformats.org/officeDocument/2006/relationships/image" Target="../media/image30.png"/><Relationship Id="rId7" Type="http://schemas.openxmlformats.org/officeDocument/2006/relationships/image" Target="../media/image49.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3.png"/><Relationship Id="rId4" Type="http://schemas.openxmlformats.org/officeDocument/2006/relationships/image" Target="../media/image59.png"/><Relationship Id="rId5" Type="http://schemas.openxmlformats.org/officeDocument/2006/relationships/image" Target="../media/image65.png"/><Relationship Id="rId6" Type="http://schemas.openxmlformats.org/officeDocument/2006/relationships/image" Target="../media/image5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1.png"/><Relationship Id="rId4" Type="http://schemas.openxmlformats.org/officeDocument/2006/relationships/image" Target="../media/image50.png"/><Relationship Id="rId5" Type="http://schemas.openxmlformats.org/officeDocument/2006/relationships/image" Target="../media/image6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5" name="Shape 15"/>
        <p:cNvGrpSpPr/>
        <p:nvPr/>
      </p:nvGrpSpPr>
      <p:grpSpPr>
        <a:xfrm>
          <a:off x="0" y="0"/>
          <a:ext cx="0" cy="0"/>
          <a:chOff x="0" y="0"/>
          <a:chExt cx="0" cy="0"/>
        </a:xfrm>
      </p:grpSpPr>
      <p:sp>
        <p:nvSpPr>
          <p:cNvPr id="16" name="Google Shape;16;p3"/>
          <p:cNvSpPr/>
          <p:nvPr/>
        </p:nvSpPr>
        <p:spPr>
          <a:xfrm>
            <a:off x="380905" y="5133584"/>
            <a:ext cx="12122294" cy="1509335"/>
          </a:xfrm>
          <a:prstGeom prst="rect">
            <a:avLst/>
          </a:prstGeom>
          <a:noFill/>
          <a:ln>
            <a:noFill/>
          </a:ln>
        </p:spPr>
        <p:txBody>
          <a:bodyPr anchorCtr="0" anchor="ctr" bIns="0" lIns="0" spcFirstLastPara="1" rIns="0" wrap="square" tIns="0">
            <a:noAutofit/>
          </a:bodyPr>
          <a:lstStyle/>
          <a:p>
            <a:pPr indent="0" lvl="0" marL="0" marR="0" rtl="0" algn="l">
              <a:lnSpc>
                <a:spcPct val="103590"/>
              </a:lnSpc>
              <a:spcBef>
                <a:spcPts val="0"/>
              </a:spcBef>
              <a:spcAft>
                <a:spcPts val="0"/>
              </a:spcAft>
              <a:buClr>
                <a:srgbClr val="333333"/>
              </a:buClr>
              <a:buSzPts val="5738"/>
              <a:buFont typeface="Epilogue"/>
              <a:buNone/>
            </a:pPr>
            <a:r>
              <a:rPr b="1" i="0" lang="en-US" sz="4938" u="none" cap="none" strike="noStrike">
                <a:solidFill>
                  <a:srgbClr val="333333"/>
                </a:solidFill>
                <a:latin typeface="Epilogue"/>
                <a:ea typeface="Epilogue"/>
                <a:cs typeface="Epilogue"/>
                <a:sym typeface="Epilogue"/>
              </a:rPr>
              <a:t>LinguaNews: Real-World Language Learning Through Authentic News</a:t>
            </a:r>
            <a:endParaRPr b="0" i="0" sz="1000" u="none" cap="none" strike="noStrike">
              <a:solidFill>
                <a:schemeClr val="dk1"/>
              </a:solidFill>
              <a:latin typeface="Arial"/>
              <a:ea typeface="Arial"/>
              <a:cs typeface="Arial"/>
              <a:sym typeface="Arial"/>
            </a:endParaRPr>
          </a:p>
        </p:txBody>
      </p:sp>
      <p:sp>
        <p:nvSpPr>
          <p:cNvPr id="17" name="Google Shape;17;p3"/>
          <p:cNvSpPr/>
          <p:nvPr/>
        </p:nvSpPr>
        <p:spPr>
          <a:xfrm>
            <a:off x="0" y="0"/>
            <a:ext cx="12188952" cy="4761309"/>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elcoming language learning app interface" id="18" name="Google Shape;18;p3"/>
          <p:cNvPicPr preferRelativeResize="0"/>
          <p:nvPr/>
        </p:nvPicPr>
        <p:blipFill rotWithShape="1">
          <a:blip r:embed="rId3">
            <a:alphaModFix/>
          </a:blip>
          <a:srcRect b="16193" l="-7658" r="-7658" t="16193"/>
          <a:stretch/>
        </p:blipFill>
        <p:spPr>
          <a:xfrm>
            <a:off x="0" y="0"/>
            <a:ext cx="12188952" cy="476130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 name="Shape 23"/>
        <p:cNvGrpSpPr/>
        <p:nvPr/>
      </p:nvGrpSpPr>
      <p:grpSpPr>
        <a:xfrm>
          <a:off x="0" y="0"/>
          <a:ext cx="0" cy="0"/>
          <a:chOff x="0" y="0"/>
          <a:chExt cx="0" cy="0"/>
        </a:xfrm>
      </p:grpSpPr>
      <p:sp>
        <p:nvSpPr>
          <p:cNvPr id="24" name="Google Shape;24;p4"/>
          <p:cNvSpPr/>
          <p:nvPr/>
        </p:nvSpPr>
        <p:spPr>
          <a:xfrm>
            <a:off x="7779980" y="476131"/>
            <a:ext cx="3932842" cy="5904024"/>
          </a:xfrm>
          <a:prstGeom prst="rect">
            <a:avLst/>
          </a:prstGeom>
          <a:solidFill>
            <a:srgbClr val="DD0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odern language learning app" id="25" name="Google Shape;25;p4"/>
          <p:cNvPicPr preferRelativeResize="0"/>
          <p:nvPr/>
        </p:nvPicPr>
        <p:blipFill rotWithShape="1">
          <a:blip r:embed="rId3">
            <a:alphaModFix/>
          </a:blip>
          <a:srcRect b="0" l="31254" r="31254" t="0"/>
          <a:stretch/>
        </p:blipFill>
        <p:spPr>
          <a:xfrm>
            <a:off x="7779980" y="476131"/>
            <a:ext cx="3932842" cy="5904024"/>
          </a:xfrm>
          <a:prstGeom prst="rect">
            <a:avLst/>
          </a:prstGeom>
          <a:noFill/>
          <a:ln>
            <a:noFill/>
          </a:ln>
        </p:spPr>
      </p:pic>
      <p:sp>
        <p:nvSpPr>
          <p:cNvPr id="26" name="Google Shape;26;p4"/>
          <p:cNvSpPr/>
          <p:nvPr/>
        </p:nvSpPr>
        <p:spPr>
          <a:xfrm>
            <a:off x="160932" y="2238857"/>
            <a:ext cx="7458115" cy="493242"/>
          </a:xfrm>
          <a:prstGeom prst="rect">
            <a:avLst/>
          </a:prstGeom>
          <a:noFill/>
          <a:ln>
            <a:noFill/>
          </a:ln>
        </p:spPr>
        <p:txBody>
          <a:bodyPr anchorCtr="0" anchor="ctr"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Welcome to LinguaNews</a:t>
            </a:r>
            <a:endParaRPr b="0" i="0" sz="1800" u="none" cap="none" strike="noStrike">
              <a:solidFill>
                <a:schemeClr val="dk1"/>
              </a:solidFill>
              <a:latin typeface="Arial"/>
              <a:ea typeface="Arial"/>
              <a:cs typeface="Arial"/>
              <a:sym typeface="Arial"/>
            </a:endParaRPr>
          </a:p>
        </p:txBody>
      </p:sp>
      <p:sp>
        <p:nvSpPr>
          <p:cNvPr id="27" name="Google Shape;27;p4"/>
          <p:cNvSpPr/>
          <p:nvPr/>
        </p:nvSpPr>
        <p:spPr>
          <a:xfrm>
            <a:off x="160932" y="2852322"/>
            <a:ext cx="7458115" cy="1825665"/>
          </a:xfrm>
          <a:prstGeom prst="rect">
            <a:avLst/>
          </a:prstGeom>
          <a:noFill/>
          <a:ln>
            <a:noFill/>
          </a:ln>
        </p:spPr>
        <p:txBody>
          <a:bodyPr anchorCtr="0" anchor="ctr" bIns="0" lIns="0" spcFirstLastPara="1" rIns="0" wrap="square" tIns="0">
            <a:noAutofit/>
          </a:bodyPr>
          <a:lstStyle/>
          <a:p>
            <a:pPr indent="0" lvl="0" marL="0" marR="0" rtl="0" algn="ctr">
              <a:lnSpc>
                <a:spcPct val="133222"/>
              </a:lnSpc>
              <a:spcBef>
                <a:spcPts val="0"/>
              </a:spcBef>
              <a:spcAft>
                <a:spcPts val="0"/>
              </a:spcAft>
              <a:buClr>
                <a:srgbClr val="000000"/>
              </a:buClr>
              <a:buSzPts val="1800"/>
              <a:buFont typeface="Epilogue"/>
              <a:buNone/>
            </a:pPr>
            <a:r>
              <a:rPr b="0" i="0" lang="en-US" sz="1800" u="none" cap="none" strike="noStrike">
                <a:solidFill>
                  <a:srgbClr val="000000"/>
                </a:solidFill>
                <a:latin typeface="Epilogue"/>
                <a:ea typeface="Epilogue"/>
                <a:cs typeface="Epilogue"/>
                <a:sym typeface="Epilogue"/>
              </a:rPr>
              <a:t>LinguaNews is a revolutionary language learning platform that immerses users in authentic news content from around the world. By seamlessly integrating vocabulary support, difficulty-based filtering, and personalized tracking, LinguaNews bridges the gap between textbook exercises and the realities of navigating a new language.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2" name="Shape 32"/>
        <p:cNvGrpSpPr/>
        <p:nvPr/>
      </p:nvGrpSpPr>
      <p:grpSpPr>
        <a:xfrm>
          <a:off x="0" y="0"/>
          <a:ext cx="0" cy="0"/>
          <a:chOff x="0" y="0"/>
          <a:chExt cx="0" cy="0"/>
        </a:xfrm>
      </p:grpSpPr>
      <p:sp>
        <p:nvSpPr>
          <p:cNvPr id="33" name="Google Shape;33;p5"/>
          <p:cNvSpPr/>
          <p:nvPr/>
        </p:nvSpPr>
        <p:spPr>
          <a:xfrm>
            <a:off x="0" y="458127"/>
            <a:ext cx="12188952" cy="493242"/>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Onboarding: Select Your Language</a:t>
            </a:r>
            <a:endParaRPr b="0" i="0" sz="1800" u="none" cap="none" strike="noStrike">
              <a:solidFill>
                <a:schemeClr val="dk1"/>
              </a:solidFill>
              <a:latin typeface="Arial"/>
              <a:ea typeface="Arial"/>
              <a:cs typeface="Arial"/>
              <a:sym typeface="Arial"/>
            </a:endParaRPr>
          </a:p>
        </p:txBody>
      </p:sp>
      <p:pic>
        <p:nvPicPr>
          <p:cNvPr id="34" name="Google Shape;34;p5"/>
          <p:cNvPicPr preferRelativeResize="0"/>
          <p:nvPr/>
        </p:nvPicPr>
        <p:blipFill rotWithShape="1">
          <a:blip r:embed="rId3">
            <a:alphaModFix/>
          </a:blip>
          <a:srcRect b="0" l="0" r="0" t="0"/>
          <a:stretch/>
        </p:blipFill>
        <p:spPr>
          <a:xfrm>
            <a:off x="2097357" y="3221026"/>
            <a:ext cx="1161759" cy="1161759"/>
          </a:xfrm>
          <a:prstGeom prst="rect">
            <a:avLst/>
          </a:prstGeom>
          <a:noFill/>
          <a:ln>
            <a:noFill/>
          </a:ln>
        </p:spPr>
      </p:pic>
      <p:pic>
        <p:nvPicPr>
          <p:cNvPr id="35" name="Google Shape;35;p5"/>
          <p:cNvPicPr preferRelativeResize="0"/>
          <p:nvPr/>
        </p:nvPicPr>
        <p:blipFill rotWithShape="1">
          <a:blip r:embed="rId4">
            <a:alphaModFix/>
          </a:blip>
          <a:srcRect b="0" l="0" r="0" t="0"/>
          <a:stretch/>
        </p:blipFill>
        <p:spPr>
          <a:xfrm>
            <a:off x="1547425" y="2671095"/>
            <a:ext cx="2266383" cy="2256861"/>
          </a:xfrm>
          <a:prstGeom prst="rect">
            <a:avLst/>
          </a:prstGeom>
          <a:noFill/>
          <a:ln>
            <a:noFill/>
          </a:ln>
        </p:spPr>
      </p:pic>
      <p:pic>
        <p:nvPicPr>
          <p:cNvPr id="36" name="Google Shape;36;p5"/>
          <p:cNvPicPr preferRelativeResize="0"/>
          <p:nvPr/>
        </p:nvPicPr>
        <p:blipFill rotWithShape="1">
          <a:blip r:embed="rId5">
            <a:alphaModFix/>
          </a:blip>
          <a:srcRect b="0" l="0" r="0" t="0"/>
          <a:stretch/>
        </p:blipFill>
        <p:spPr>
          <a:xfrm>
            <a:off x="997494" y="2121164"/>
            <a:ext cx="3361484" cy="3361484"/>
          </a:xfrm>
          <a:prstGeom prst="rect">
            <a:avLst/>
          </a:prstGeom>
          <a:noFill/>
          <a:ln>
            <a:noFill/>
          </a:ln>
        </p:spPr>
      </p:pic>
      <p:pic>
        <p:nvPicPr>
          <p:cNvPr id="37" name="Google Shape;37;p5"/>
          <p:cNvPicPr preferRelativeResize="0"/>
          <p:nvPr/>
        </p:nvPicPr>
        <p:blipFill rotWithShape="1">
          <a:blip r:embed="rId6">
            <a:alphaModFix/>
          </a:blip>
          <a:srcRect b="0" l="0" r="0" t="0"/>
          <a:stretch/>
        </p:blipFill>
        <p:spPr>
          <a:xfrm>
            <a:off x="447563" y="1571232"/>
            <a:ext cx="4466108" cy="4456586"/>
          </a:xfrm>
          <a:prstGeom prst="rect">
            <a:avLst/>
          </a:prstGeom>
          <a:noFill/>
          <a:ln>
            <a:noFill/>
          </a:ln>
        </p:spPr>
      </p:pic>
      <p:pic>
        <p:nvPicPr>
          <p:cNvPr id="38" name="Google Shape;38;p5"/>
          <p:cNvPicPr preferRelativeResize="0"/>
          <p:nvPr/>
        </p:nvPicPr>
        <p:blipFill rotWithShape="1">
          <a:blip r:embed="rId7">
            <a:alphaModFix/>
          </a:blip>
          <a:srcRect b="0" l="0" r="0" t="0"/>
          <a:stretch/>
        </p:blipFill>
        <p:spPr>
          <a:xfrm>
            <a:off x="2975247" y="2542540"/>
            <a:ext cx="3866183" cy="1180805"/>
          </a:xfrm>
          <a:prstGeom prst="rect">
            <a:avLst/>
          </a:prstGeom>
          <a:noFill/>
          <a:ln>
            <a:noFill/>
          </a:ln>
        </p:spPr>
      </p:pic>
      <p:pic>
        <p:nvPicPr>
          <p:cNvPr id="39" name="Google Shape;39;p5"/>
          <p:cNvPicPr preferRelativeResize="0"/>
          <p:nvPr/>
        </p:nvPicPr>
        <p:blipFill rotWithShape="1">
          <a:blip r:embed="rId8">
            <a:alphaModFix/>
          </a:blip>
          <a:srcRect b="0" l="0" r="0" t="0"/>
          <a:stretch/>
        </p:blipFill>
        <p:spPr>
          <a:xfrm>
            <a:off x="2937157" y="3659067"/>
            <a:ext cx="104749" cy="95226"/>
          </a:xfrm>
          <a:prstGeom prst="rect">
            <a:avLst/>
          </a:prstGeom>
          <a:noFill/>
          <a:ln>
            <a:noFill/>
          </a:ln>
        </p:spPr>
      </p:pic>
      <p:pic>
        <p:nvPicPr>
          <p:cNvPr id="40" name="Google Shape;40;p5"/>
          <p:cNvPicPr preferRelativeResize="0"/>
          <p:nvPr/>
        </p:nvPicPr>
        <p:blipFill rotWithShape="1">
          <a:blip r:embed="rId9">
            <a:alphaModFix/>
          </a:blip>
          <a:srcRect b="0" l="0" r="0" t="0"/>
          <a:stretch/>
        </p:blipFill>
        <p:spPr>
          <a:xfrm>
            <a:off x="3534796" y="3443665"/>
            <a:ext cx="2732992" cy="285679"/>
          </a:xfrm>
          <a:prstGeom prst="rect">
            <a:avLst/>
          </a:prstGeom>
          <a:noFill/>
          <a:ln>
            <a:noFill/>
          </a:ln>
        </p:spPr>
      </p:pic>
      <p:pic>
        <p:nvPicPr>
          <p:cNvPr id="41" name="Google Shape;41;p5"/>
          <p:cNvPicPr preferRelativeResize="0"/>
          <p:nvPr/>
        </p:nvPicPr>
        <p:blipFill rotWithShape="1">
          <a:blip r:embed="rId8">
            <a:alphaModFix/>
          </a:blip>
          <a:srcRect b="0" l="0" r="0" t="0"/>
          <a:stretch/>
        </p:blipFill>
        <p:spPr>
          <a:xfrm>
            <a:off x="3496706" y="3667922"/>
            <a:ext cx="104749" cy="95226"/>
          </a:xfrm>
          <a:prstGeom prst="rect">
            <a:avLst/>
          </a:prstGeom>
          <a:noFill/>
          <a:ln>
            <a:noFill/>
          </a:ln>
        </p:spPr>
      </p:pic>
      <p:pic>
        <p:nvPicPr>
          <p:cNvPr id="42" name="Google Shape;42;p5"/>
          <p:cNvPicPr preferRelativeResize="0"/>
          <p:nvPr/>
        </p:nvPicPr>
        <p:blipFill rotWithShape="1">
          <a:blip r:embed="rId10">
            <a:alphaModFix/>
          </a:blip>
          <a:srcRect b="0" l="0" r="0" t="0"/>
          <a:stretch/>
        </p:blipFill>
        <p:spPr>
          <a:xfrm>
            <a:off x="4079300" y="3953601"/>
            <a:ext cx="2275906" cy="285679"/>
          </a:xfrm>
          <a:prstGeom prst="rect">
            <a:avLst/>
          </a:prstGeom>
          <a:noFill/>
          <a:ln>
            <a:noFill/>
          </a:ln>
        </p:spPr>
      </p:pic>
      <p:pic>
        <p:nvPicPr>
          <p:cNvPr id="43" name="Google Shape;43;p5"/>
          <p:cNvPicPr preferRelativeResize="0"/>
          <p:nvPr/>
        </p:nvPicPr>
        <p:blipFill rotWithShape="1">
          <a:blip r:embed="rId8">
            <a:alphaModFix/>
          </a:blip>
          <a:srcRect b="0" l="0" r="0" t="0"/>
          <a:stretch/>
        </p:blipFill>
        <p:spPr>
          <a:xfrm>
            <a:off x="4041209" y="3915511"/>
            <a:ext cx="104749" cy="95226"/>
          </a:xfrm>
          <a:prstGeom prst="rect">
            <a:avLst/>
          </a:prstGeom>
          <a:noFill/>
          <a:ln>
            <a:noFill/>
          </a:ln>
        </p:spPr>
      </p:pic>
      <p:pic>
        <p:nvPicPr>
          <p:cNvPr id="44" name="Google Shape;44;p5"/>
          <p:cNvPicPr preferRelativeResize="0"/>
          <p:nvPr/>
        </p:nvPicPr>
        <p:blipFill rotWithShape="1">
          <a:blip r:embed="rId11">
            <a:alphaModFix/>
          </a:blip>
          <a:srcRect b="0" l="0" r="0" t="0"/>
          <a:stretch/>
        </p:blipFill>
        <p:spPr>
          <a:xfrm>
            <a:off x="4540956" y="4403259"/>
            <a:ext cx="2723469" cy="904649"/>
          </a:xfrm>
          <a:prstGeom prst="rect">
            <a:avLst/>
          </a:prstGeom>
          <a:noFill/>
          <a:ln>
            <a:noFill/>
          </a:ln>
        </p:spPr>
      </p:pic>
      <p:pic>
        <p:nvPicPr>
          <p:cNvPr id="45" name="Google Shape;45;p5"/>
          <p:cNvPicPr preferRelativeResize="0"/>
          <p:nvPr/>
        </p:nvPicPr>
        <p:blipFill rotWithShape="1">
          <a:blip r:embed="rId8">
            <a:alphaModFix/>
          </a:blip>
          <a:srcRect b="0" l="0" r="0" t="0"/>
          <a:stretch/>
        </p:blipFill>
        <p:spPr>
          <a:xfrm>
            <a:off x="4502865" y="4365169"/>
            <a:ext cx="104749" cy="95226"/>
          </a:xfrm>
          <a:prstGeom prst="rect">
            <a:avLst/>
          </a:prstGeom>
          <a:noFill/>
          <a:ln>
            <a:noFill/>
          </a:ln>
        </p:spPr>
      </p:pic>
      <p:sp>
        <p:nvSpPr>
          <p:cNvPr id="46" name="Google Shape;46;p5"/>
          <p:cNvSpPr/>
          <p:nvPr/>
        </p:nvSpPr>
        <p:spPr>
          <a:xfrm>
            <a:off x="6423006" y="1686396"/>
            <a:ext cx="4368025"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Language Grid</a:t>
            </a:r>
            <a:endParaRPr b="0" i="0" sz="1800" u="none" cap="none" strike="noStrike">
              <a:solidFill>
                <a:schemeClr val="dk1"/>
              </a:solidFill>
              <a:latin typeface="Arial"/>
              <a:ea typeface="Arial"/>
              <a:cs typeface="Arial"/>
              <a:sym typeface="Arial"/>
            </a:endParaRPr>
          </a:p>
        </p:txBody>
      </p:sp>
      <p:sp>
        <p:nvSpPr>
          <p:cNvPr id="47" name="Google Shape;47;p5"/>
          <p:cNvSpPr/>
          <p:nvPr/>
        </p:nvSpPr>
        <p:spPr>
          <a:xfrm>
            <a:off x="6423006" y="2019093"/>
            <a:ext cx="4368025"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Choose from Spanish, French, German, Italian</a:t>
            </a:r>
            <a:endParaRPr b="0" i="0" sz="1800" u="none" cap="none" strike="noStrike">
              <a:solidFill>
                <a:schemeClr val="dk1"/>
              </a:solidFill>
              <a:latin typeface="Arial"/>
              <a:ea typeface="Arial"/>
              <a:cs typeface="Arial"/>
              <a:sym typeface="Arial"/>
            </a:endParaRPr>
          </a:p>
        </p:txBody>
      </p:sp>
      <p:sp>
        <p:nvSpPr>
          <p:cNvPr id="48" name="Google Shape;48;p5"/>
          <p:cNvSpPr/>
          <p:nvPr/>
        </p:nvSpPr>
        <p:spPr>
          <a:xfrm>
            <a:off x="6351587" y="3000518"/>
            <a:ext cx="4043304"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Beginner-Friendly</a:t>
            </a:r>
            <a:endParaRPr b="0" i="0" sz="1800" u="none" cap="none" strike="noStrike">
              <a:solidFill>
                <a:schemeClr val="dk1"/>
              </a:solidFill>
              <a:latin typeface="Arial"/>
              <a:ea typeface="Arial"/>
              <a:cs typeface="Arial"/>
              <a:sym typeface="Arial"/>
            </a:endParaRPr>
          </a:p>
        </p:txBody>
      </p:sp>
      <p:sp>
        <p:nvSpPr>
          <p:cNvPr id="49" name="Google Shape;49;p5"/>
          <p:cNvSpPr/>
          <p:nvPr/>
        </p:nvSpPr>
        <p:spPr>
          <a:xfrm>
            <a:off x="6351587" y="3333214"/>
            <a:ext cx="4043304" cy="253540"/>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Suitable for all proficiency levels</a:t>
            </a:r>
            <a:endParaRPr b="0" i="0" sz="1800" u="none" cap="none" strike="noStrike">
              <a:solidFill>
                <a:schemeClr val="dk1"/>
              </a:solidFill>
              <a:latin typeface="Arial"/>
              <a:ea typeface="Arial"/>
              <a:cs typeface="Arial"/>
              <a:sym typeface="Arial"/>
            </a:endParaRPr>
          </a:p>
        </p:txBody>
      </p:sp>
      <p:sp>
        <p:nvSpPr>
          <p:cNvPr id="50" name="Google Shape;50;p5"/>
          <p:cNvSpPr/>
          <p:nvPr/>
        </p:nvSpPr>
        <p:spPr>
          <a:xfrm>
            <a:off x="6437290" y="4067051"/>
            <a:ext cx="4210902"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Personalized Experience</a:t>
            </a:r>
            <a:endParaRPr b="0" i="0" sz="1800" u="none" cap="none" strike="noStrike">
              <a:solidFill>
                <a:schemeClr val="dk1"/>
              </a:solidFill>
              <a:latin typeface="Arial"/>
              <a:ea typeface="Arial"/>
              <a:cs typeface="Arial"/>
              <a:sym typeface="Arial"/>
            </a:endParaRPr>
          </a:p>
        </p:txBody>
      </p:sp>
      <p:sp>
        <p:nvSpPr>
          <p:cNvPr id="51" name="Google Shape;51;p5"/>
          <p:cNvSpPr/>
          <p:nvPr/>
        </p:nvSpPr>
        <p:spPr>
          <a:xfrm>
            <a:off x="6437290" y="4399747"/>
            <a:ext cx="4210902"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Set your target language for customized content</a:t>
            </a:r>
            <a:endParaRPr b="0" i="0" sz="1800" u="none" cap="none" strike="noStrike">
              <a:solidFill>
                <a:schemeClr val="dk1"/>
              </a:solidFill>
              <a:latin typeface="Arial"/>
              <a:ea typeface="Arial"/>
              <a:cs typeface="Arial"/>
              <a:sym typeface="Arial"/>
            </a:endParaRPr>
          </a:p>
        </p:txBody>
      </p:sp>
      <p:sp>
        <p:nvSpPr>
          <p:cNvPr id="52" name="Google Shape;52;p5"/>
          <p:cNvSpPr/>
          <p:nvPr/>
        </p:nvSpPr>
        <p:spPr>
          <a:xfrm>
            <a:off x="6303974" y="5381172"/>
            <a:ext cx="4441349"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Skip for Now</a:t>
            </a:r>
            <a:endParaRPr b="0" i="0" sz="1800" u="none" cap="none" strike="noStrike">
              <a:solidFill>
                <a:schemeClr val="dk1"/>
              </a:solidFill>
              <a:latin typeface="Arial"/>
              <a:ea typeface="Arial"/>
              <a:cs typeface="Arial"/>
              <a:sym typeface="Arial"/>
            </a:endParaRPr>
          </a:p>
        </p:txBody>
      </p:sp>
      <p:sp>
        <p:nvSpPr>
          <p:cNvPr id="53" name="Google Shape;53;p5"/>
          <p:cNvSpPr/>
          <p:nvPr/>
        </p:nvSpPr>
        <p:spPr>
          <a:xfrm>
            <a:off x="6303974" y="5713869"/>
            <a:ext cx="4441349" cy="253540"/>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Option to select language later</a:t>
            </a:r>
            <a:endParaRPr b="0" i="0" sz="1800" u="none" cap="none" strike="noStrike">
              <a:solidFill>
                <a:schemeClr val="dk1"/>
              </a:solidFill>
              <a:latin typeface="Arial"/>
              <a:ea typeface="Arial"/>
              <a:cs typeface="Arial"/>
              <a:sym typeface="Arial"/>
            </a:endParaRPr>
          </a:p>
        </p:txBody>
      </p:sp>
      <p:sp>
        <p:nvSpPr>
          <p:cNvPr id="54" name="Google Shape;54;p5"/>
          <p:cNvSpPr/>
          <p:nvPr/>
        </p:nvSpPr>
        <p:spPr>
          <a:xfrm>
            <a:off x="11865183" y="6519720"/>
            <a:ext cx="133317" cy="228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txBox="1"/>
          <p:nvPr>
            <p:ph idx="12" type="sldNum"/>
          </p:nvPr>
        </p:nvSpPr>
        <p:spPr>
          <a:xfrm>
            <a:off x="11826240" y="651510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6"/>
          <p:cNvSpPr/>
          <p:nvPr/>
        </p:nvSpPr>
        <p:spPr>
          <a:xfrm>
            <a:off x="0" y="458127"/>
            <a:ext cx="12188952" cy="493242"/>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Browsing the News Feed</a:t>
            </a:r>
            <a:endParaRPr b="0" i="0" sz="1800" u="none" cap="none" strike="noStrike">
              <a:solidFill>
                <a:schemeClr val="dk1"/>
              </a:solidFill>
              <a:latin typeface="Arial"/>
              <a:ea typeface="Arial"/>
              <a:cs typeface="Arial"/>
              <a:sym typeface="Arial"/>
            </a:endParaRPr>
          </a:p>
        </p:txBody>
      </p:sp>
      <p:pic>
        <p:nvPicPr>
          <p:cNvPr id="62" name="Google Shape;62;p6"/>
          <p:cNvPicPr preferRelativeResize="0"/>
          <p:nvPr/>
        </p:nvPicPr>
        <p:blipFill rotWithShape="1">
          <a:blip r:embed="rId3">
            <a:alphaModFix/>
          </a:blip>
          <a:srcRect b="0" l="0" r="0" t="0"/>
          <a:stretch/>
        </p:blipFill>
        <p:spPr>
          <a:xfrm>
            <a:off x="2097357" y="3221026"/>
            <a:ext cx="1161759" cy="1161759"/>
          </a:xfrm>
          <a:prstGeom prst="rect">
            <a:avLst/>
          </a:prstGeom>
          <a:noFill/>
          <a:ln>
            <a:noFill/>
          </a:ln>
        </p:spPr>
      </p:pic>
      <p:pic>
        <p:nvPicPr>
          <p:cNvPr id="63" name="Google Shape;63;p6"/>
          <p:cNvPicPr preferRelativeResize="0"/>
          <p:nvPr/>
        </p:nvPicPr>
        <p:blipFill rotWithShape="1">
          <a:blip r:embed="rId4">
            <a:alphaModFix/>
          </a:blip>
          <a:srcRect b="0" l="0" r="0" t="0"/>
          <a:stretch/>
        </p:blipFill>
        <p:spPr>
          <a:xfrm>
            <a:off x="1547425" y="2671095"/>
            <a:ext cx="2266383" cy="2266383"/>
          </a:xfrm>
          <a:prstGeom prst="rect">
            <a:avLst/>
          </a:prstGeom>
          <a:noFill/>
          <a:ln>
            <a:noFill/>
          </a:ln>
        </p:spPr>
      </p:pic>
      <p:pic>
        <p:nvPicPr>
          <p:cNvPr id="64" name="Google Shape;64;p6"/>
          <p:cNvPicPr preferRelativeResize="0"/>
          <p:nvPr/>
        </p:nvPicPr>
        <p:blipFill rotWithShape="1">
          <a:blip r:embed="rId5">
            <a:alphaModFix/>
          </a:blip>
          <a:srcRect b="0" l="0" r="0" t="0"/>
          <a:stretch/>
        </p:blipFill>
        <p:spPr>
          <a:xfrm>
            <a:off x="997494" y="2121164"/>
            <a:ext cx="3361484" cy="3361484"/>
          </a:xfrm>
          <a:prstGeom prst="rect">
            <a:avLst/>
          </a:prstGeom>
          <a:noFill/>
          <a:ln>
            <a:noFill/>
          </a:ln>
        </p:spPr>
      </p:pic>
      <p:pic>
        <p:nvPicPr>
          <p:cNvPr id="65" name="Google Shape;65;p6"/>
          <p:cNvPicPr preferRelativeResize="0"/>
          <p:nvPr/>
        </p:nvPicPr>
        <p:blipFill rotWithShape="1">
          <a:blip r:embed="rId6">
            <a:alphaModFix/>
          </a:blip>
          <a:srcRect b="0" l="0" r="0" t="0"/>
          <a:stretch/>
        </p:blipFill>
        <p:spPr>
          <a:xfrm>
            <a:off x="447563" y="1571232"/>
            <a:ext cx="4466108" cy="4466108"/>
          </a:xfrm>
          <a:prstGeom prst="rect">
            <a:avLst/>
          </a:prstGeom>
          <a:noFill/>
          <a:ln>
            <a:noFill/>
          </a:ln>
        </p:spPr>
      </p:pic>
      <p:pic>
        <p:nvPicPr>
          <p:cNvPr id="66" name="Google Shape;66;p6"/>
          <p:cNvPicPr preferRelativeResize="0"/>
          <p:nvPr/>
        </p:nvPicPr>
        <p:blipFill rotWithShape="1">
          <a:blip r:embed="rId7">
            <a:alphaModFix/>
          </a:blip>
          <a:srcRect b="0" l="0" r="0" t="0"/>
          <a:stretch/>
        </p:blipFill>
        <p:spPr>
          <a:xfrm>
            <a:off x="2975533" y="2542539"/>
            <a:ext cx="3913796" cy="1180805"/>
          </a:xfrm>
          <a:prstGeom prst="rect">
            <a:avLst/>
          </a:prstGeom>
          <a:noFill/>
          <a:ln>
            <a:noFill/>
          </a:ln>
        </p:spPr>
      </p:pic>
      <p:pic>
        <p:nvPicPr>
          <p:cNvPr id="67" name="Google Shape;67;p6"/>
          <p:cNvPicPr preferRelativeResize="0"/>
          <p:nvPr/>
        </p:nvPicPr>
        <p:blipFill rotWithShape="1">
          <a:blip r:embed="rId8">
            <a:alphaModFix/>
          </a:blip>
          <a:srcRect b="0" l="0" r="0" t="0"/>
          <a:stretch/>
        </p:blipFill>
        <p:spPr>
          <a:xfrm>
            <a:off x="2937442" y="3660018"/>
            <a:ext cx="104749" cy="104749"/>
          </a:xfrm>
          <a:prstGeom prst="rect">
            <a:avLst/>
          </a:prstGeom>
          <a:noFill/>
          <a:ln>
            <a:noFill/>
          </a:ln>
        </p:spPr>
      </p:pic>
      <p:pic>
        <p:nvPicPr>
          <p:cNvPr id="68" name="Google Shape;68;p6"/>
          <p:cNvPicPr preferRelativeResize="0"/>
          <p:nvPr/>
        </p:nvPicPr>
        <p:blipFill rotWithShape="1">
          <a:blip r:embed="rId9">
            <a:alphaModFix/>
          </a:blip>
          <a:srcRect b="0" l="0" r="0" t="0"/>
          <a:stretch/>
        </p:blipFill>
        <p:spPr>
          <a:xfrm>
            <a:off x="3534987" y="3456044"/>
            <a:ext cx="2675856" cy="276156"/>
          </a:xfrm>
          <a:prstGeom prst="rect">
            <a:avLst/>
          </a:prstGeom>
          <a:noFill/>
          <a:ln>
            <a:noFill/>
          </a:ln>
        </p:spPr>
      </p:pic>
      <p:pic>
        <p:nvPicPr>
          <p:cNvPr id="69" name="Google Shape;69;p6"/>
          <p:cNvPicPr preferRelativeResize="0"/>
          <p:nvPr/>
        </p:nvPicPr>
        <p:blipFill rotWithShape="1">
          <a:blip r:embed="rId10">
            <a:alphaModFix/>
          </a:blip>
          <a:srcRect b="0" l="0" r="0" t="0"/>
          <a:stretch/>
        </p:blipFill>
        <p:spPr>
          <a:xfrm>
            <a:off x="3496896" y="3669446"/>
            <a:ext cx="104749" cy="95226"/>
          </a:xfrm>
          <a:prstGeom prst="rect">
            <a:avLst/>
          </a:prstGeom>
          <a:noFill/>
          <a:ln>
            <a:noFill/>
          </a:ln>
        </p:spPr>
      </p:pic>
      <p:pic>
        <p:nvPicPr>
          <p:cNvPr id="70" name="Google Shape;70;p6"/>
          <p:cNvPicPr preferRelativeResize="0"/>
          <p:nvPr/>
        </p:nvPicPr>
        <p:blipFill rotWithShape="1">
          <a:blip r:embed="rId11">
            <a:alphaModFix/>
          </a:blip>
          <a:srcRect b="0" l="0" r="0" t="0"/>
          <a:stretch/>
        </p:blipFill>
        <p:spPr>
          <a:xfrm>
            <a:off x="4079204" y="3954648"/>
            <a:ext cx="2161634" cy="276156"/>
          </a:xfrm>
          <a:prstGeom prst="rect">
            <a:avLst/>
          </a:prstGeom>
          <a:noFill/>
          <a:ln>
            <a:noFill/>
          </a:ln>
        </p:spPr>
      </p:pic>
      <p:pic>
        <p:nvPicPr>
          <p:cNvPr id="71" name="Google Shape;71;p6"/>
          <p:cNvPicPr preferRelativeResize="0"/>
          <p:nvPr/>
        </p:nvPicPr>
        <p:blipFill rotWithShape="1">
          <a:blip r:embed="rId12">
            <a:alphaModFix/>
          </a:blip>
          <a:srcRect b="0" l="0" r="0" t="0"/>
          <a:stretch/>
        </p:blipFill>
        <p:spPr>
          <a:xfrm>
            <a:off x="4041114" y="3916558"/>
            <a:ext cx="95226" cy="95226"/>
          </a:xfrm>
          <a:prstGeom prst="rect">
            <a:avLst/>
          </a:prstGeom>
          <a:noFill/>
          <a:ln>
            <a:noFill/>
          </a:ln>
        </p:spPr>
      </p:pic>
      <p:pic>
        <p:nvPicPr>
          <p:cNvPr id="72" name="Google Shape;72;p6"/>
          <p:cNvPicPr preferRelativeResize="0"/>
          <p:nvPr/>
        </p:nvPicPr>
        <p:blipFill rotWithShape="1">
          <a:blip r:embed="rId13">
            <a:alphaModFix/>
          </a:blip>
          <a:srcRect b="0" l="0" r="0" t="0"/>
          <a:stretch/>
        </p:blipFill>
        <p:spPr>
          <a:xfrm>
            <a:off x="4543623" y="4394974"/>
            <a:ext cx="2399700" cy="790377"/>
          </a:xfrm>
          <a:prstGeom prst="rect">
            <a:avLst/>
          </a:prstGeom>
          <a:noFill/>
          <a:ln>
            <a:noFill/>
          </a:ln>
        </p:spPr>
      </p:pic>
      <p:pic>
        <p:nvPicPr>
          <p:cNvPr id="73" name="Google Shape;73;p6"/>
          <p:cNvPicPr preferRelativeResize="0"/>
          <p:nvPr/>
        </p:nvPicPr>
        <p:blipFill rotWithShape="1">
          <a:blip r:embed="rId12">
            <a:alphaModFix/>
          </a:blip>
          <a:srcRect b="0" l="0" r="0" t="0"/>
          <a:stretch/>
        </p:blipFill>
        <p:spPr>
          <a:xfrm>
            <a:off x="4505532" y="4356884"/>
            <a:ext cx="95226" cy="95226"/>
          </a:xfrm>
          <a:prstGeom prst="rect">
            <a:avLst/>
          </a:prstGeom>
          <a:noFill/>
          <a:ln>
            <a:noFill/>
          </a:ln>
        </p:spPr>
      </p:pic>
      <p:sp>
        <p:nvSpPr>
          <p:cNvPr id="74" name="Google Shape;74;p6"/>
          <p:cNvSpPr/>
          <p:nvPr/>
        </p:nvSpPr>
        <p:spPr>
          <a:xfrm>
            <a:off x="6627743" y="1686396"/>
            <a:ext cx="4064254"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Difficulty Filters</a:t>
            </a:r>
            <a:endParaRPr b="0" i="0" sz="1800" u="none" cap="none" strike="noStrike">
              <a:solidFill>
                <a:schemeClr val="dk1"/>
              </a:solidFill>
              <a:latin typeface="Arial"/>
              <a:ea typeface="Arial"/>
              <a:cs typeface="Arial"/>
              <a:sym typeface="Arial"/>
            </a:endParaRPr>
          </a:p>
        </p:txBody>
      </p:sp>
      <p:sp>
        <p:nvSpPr>
          <p:cNvPr id="75" name="Google Shape;75;p6"/>
          <p:cNvSpPr/>
          <p:nvPr/>
        </p:nvSpPr>
        <p:spPr>
          <a:xfrm>
            <a:off x="6627743" y="2019093"/>
            <a:ext cx="4064254"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Select beginner, intermediate, or advanced</a:t>
            </a:r>
            <a:endParaRPr b="0" i="0" sz="1800" u="none" cap="none" strike="noStrike">
              <a:solidFill>
                <a:schemeClr val="dk1"/>
              </a:solidFill>
              <a:latin typeface="Arial"/>
              <a:ea typeface="Arial"/>
              <a:cs typeface="Arial"/>
              <a:sym typeface="Arial"/>
            </a:endParaRPr>
          </a:p>
        </p:txBody>
      </p:sp>
      <p:sp>
        <p:nvSpPr>
          <p:cNvPr id="76" name="Google Shape;76;p6"/>
          <p:cNvSpPr/>
          <p:nvPr/>
        </p:nvSpPr>
        <p:spPr>
          <a:xfrm>
            <a:off x="6289690" y="2876724"/>
            <a:ext cx="4409925"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Topic Filters</a:t>
            </a:r>
            <a:endParaRPr b="0" i="0" sz="1800" u="none" cap="none" strike="noStrike">
              <a:solidFill>
                <a:schemeClr val="dk1"/>
              </a:solidFill>
              <a:latin typeface="Arial"/>
              <a:ea typeface="Arial"/>
              <a:cs typeface="Arial"/>
              <a:sym typeface="Arial"/>
            </a:endParaRPr>
          </a:p>
        </p:txBody>
      </p:sp>
      <p:sp>
        <p:nvSpPr>
          <p:cNvPr id="77" name="Google Shape;77;p6"/>
          <p:cNvSpPr/>
          <p:nvPr/>
        </p:nvSpPr>
        <p:spPr>
          <a:xfrm>
            <a:off x="6289690" y="3209420"/>
            <a:ext cx="4409925"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Browse articles by technology, business, sports, and more</a:t>
            </a:r>
            <a:endParaRPr b="0" i="0" sz="1800" u="none" cap="none" strike="noStrike">
              <a:solidFill>
                <a:schemeClr val="dk1"/>
              </a:solidFill>
              <a:latin typeface="Arial"/>
              <a:ea typeface="Arial"/>
              <a:cs typeface="Arial"/>
              <a:sym typeface="Arial"/>
            </a:endParaRPr>
          </a:p>
        </p:txBody>
      </p:sp>
      <p:sp>
        <p:nvSpPr>
          <p:cNvPr id="78" name="Google Shape;78;p6"/>
          <p:cNvSpPr/>
          <p:nvPr/>
        </p:nvSpPr>
        <p:spPr>
          <a:xfrm>
            <a:off x="6318258" y="4067051"/>
            <a:ext cx="4388975"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Personalized Recommendations</a:t>
            </a:r>
            <a:endParaRPr b="0" i="0" sz="1800" u="none" cap="none" strike="noStrike">
              <a:solidFill>
                <a:schemeClr val="dk1"/>
              </a:solidFill>
              <a:latin typeface="Arial"/>
              <a:ea typeface="Arial"/>
              <a:cs typeface="Arial"/>
              <a:sym typeface="Arial"/>
            </a:endParaRPr>
          </a:p>
        </p:txBody>
      </p:sp>
      <p:sp>
        <p:nvSpPr>
          <p:cNvPr id="79" name="Google Shape;79;p6"/>
          <p:cNvSpPr/>
          <p:nvPr/>
        </p:nvSpPr>
        <p:spPr>
          <a:xfrm>
            <a:off x="6318258" y="4399747"/>
            <a:ext cx="4388975"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Tailored to user's language level and interests</a:t>
            </a:r>
            <a:endParaRPr b="0" i="0" sz="1800" u="none" cap="none" strike="noStrike">
              <a:solidFill>
                <a:schemeClr val="dk1"/>
              </a:solidFill>
              <a:latin typeface="Arial"/>
              <a:ea typeface="Arial"/>
              <a:cs typeface="Arial"/>
              <a:sym typeface="Arial"/>
            </a:endParaRPr>
          </a:p>
        </p:txBody>
      </p:sp>
      <p:sp>
        <p:nvSpPr>
          <p:cNvPr id="80" name="Google Shape;80;p6"/>
          <p:cNvSpPr/>
          <p:nvPr/>
        </p:nvSpPr>
        <p:spPr>
          <a:xfrm>
            <a:off x="6384916" y="5257378"/>
            <a:ext cx="4451824"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Detailed Article Cards</a:t>
            </a:r>
            <a:endParaRPr b="0" i="0" sz="1800" u="none" cap="none" strike="noStrike">
              <a:solidFill>
                <a:schemeClr val="dk1"/>
              </a:solidFill>
              <a:latin typeface="Arial"/>
              <a:ea typeface="Arial"/>
              <a:cs typeface="Arial"/>
              <a:sym typeface="Arial"/>
            </a:endParaRPr>
          </a:p>
        </p:txBody>
      </p:sp>
      <p:sp>
        <p:nvSpPr>
          <p:cNvPr id="81" name="Google Shape;81;p6"/>
          <p:cNvSpPr/>
          <p:nvPr/>
        </p:nvSpPr>
        <p:spPr>
          <a:xfrm>
            <a:off x="6384916" y="5590075"/>
            <a:ext cx="4451824"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Metadata, difficulty, and reading time at a glance</a:t>
            </a:r>
            <a:endParaRPr b="0" i="0" sz="1800" u="none" cap="none" strike="noStrike">
              <a:solidFill>
                <a:schemeClr val="dk1"/>
              </a:solidFill>
              <a:latin typeface="Arial"/>
              <a:ea typeface="Arial"/>
              <a:cs typeface="Arial"/>
              <a:sym typeface="Arial"/>
            </a:endParaRPr>
          </a:p>
        </p:txBody>
      </p:sp>
      <p:sp>
        <p:nvSpPr>
          <p:cNvPr id="82" name="Google Shape;82;p6"/>
          <p:cNvSpPr/>
          <p:nvPr/>
        </p:nvSpPr>
        <p:spPr>
          <a:xfrm>
            <a:off x="11865183" y="6519720"/>
            <a:ext cx="133317" cy="228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txBox="1"/>
          <p:nvPr>
            <p:ph idx="12" type="sldNum"/>
          </p:nvPr>
        </p:nvSpPr>
        <p:spPr>
          <a:xfrm>
            <a:off x="11826240" y="651510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88" name="Shape 88"/>
        <p:cNvGrpSpPr/>
        <p:nvPr/>
      </p:nvGrpSpPr>
      <p:grpSpPr>
        <a:xfrm>
          <a:off x="0" y="0"/>
          <a:ext cx="0" cy="0"/>
          <a:chOff x="0" y="0"/>
          <a:chExt cx="0" cy="0"/>
        </a:xfrm>
      </p:grpSpPr>
      <p:sp>
        <p:nvSpPr>
          <p:cNvPr id="89" name="Google Shape;89;p7"/>
          <p:cNvSpPr/>
          <p:nvPr/>
        </p:nvSpPr>
        <p:spPr>
          <a:xfrm>
            <a:off x="0" y="458127"/>
            <a:ext cx="12188952" cy="493242"/>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In-Context Vocabulary Lookup</a:t>
            </a:r>
            <a:endParaRPr b="0" i="0" sz="1800" u="none" cap="none" strike="noStrike">
              <a:solidFill>
                <a:schemeClr val="dk1"/>
              </a:solidFill>
              <a:latin typeface="Arial"/>
              <a:ea typeface="Arial"/>
              <a:cs typeface="Arial"/>
              <a:sym typeface="Arial"/>
            </a:endParaRPr>
          </a:p>
        </p:txBody>
      </p:sp>
      <p:pic>
        <p:nvPicPr>
          <p:cNvPr id="90" name="Google Shape;90;p7"/>
          <p:cNvPicPr preferRelativeResize="0"/>
          <p:nvPr/>
        </p:nvPicPr>
        <p:blipFill rotWithShape="1">
          <a:blip r:embed="rId3">
            <a:alphaModFix/>
          </a:blip>
          <a:srcRect b="0" l="0" r="0" t="0"/>
          <a:stretch/>
        </p:blipFill>
        <p:spPr>
          <a:xfrm>
            <a:off x="2097356" y="3221026"/>
            <a:ext cx="1161759" cy="1161759"/>
          </a:xfrm>
          <a:prstGeom prst="rect">
            <a:avLst/>
          </a:prstGeom>
          <a:noFill/>
          <a:ln>
            <a:noFill/>
          </a:ln>
        </p:spPr>
      </p:pic>
      <p:pic>
        <p:nvPicPr>
          <p:cNvPr id="91" name="Google Shape;91;p7"/>
          <p:cNvPicPr preferRelativeResize="0"/>
          <p:nvPr/>
        </p:nvPicPr>
        <p:blipFill rotWithShape="1">
          <a:blip r:embed="rId4">
            <a:alphaModFix/>
          </a:blip>
          <a:srcRect b="0" l="0" r="0" t="0"/>
          <a:stretch/>
        </p:blipFill>
        <p:spPr>
          <a:xfrm>
            <a:off x="1547426" y="2671095"/>
            <a:ext cx="2256861" cy="2256861"/>
          </a:xfrm>
          <a:prstGeom prst="rect">
            <a:avLst/>
          </a:prstGeom>
          <a:noFill/>
          <a:ln>
            <a:noFill/>
          </a:ln>
        </p:spPr>
      </p:pic>
      <p:pic>
        <p:nvPicPr>
          <p:cNvPr id="92" name="Google Shape;92;p7"/>
          <p:cNvPicPr preferRelativeResize="0"/>
          <p:nvPr/>
        </p:nvPicPr>
        <p:blipFill rotWithShape="1">
          <a:blip r:embed="rId5">
            <a:alphaModFix/>
          </a:blip>
          <a:srcRect b="0" l="0" r="0" t="0"/>
          <a:stretch/>
        </p:blipFill>
        <p:spPr>
          <a:xfrm>
            <a:off x="997493" y="2121164"/>
            <a:ext cx="3361484" cy="3361484"/>
          </a:xfrm>
          <a:prstGeom prst="rect">
            <a:avLst/>
          </a:prstGeom>
          <a:noFill/>
          <a:ln>
            <a:noFill/>
          </a:ln>
        </p:spPr>
      </p:pic>
      <p:pic>
        <p:nvPicPr>
          <p:cNvPr id="93" name="Google Shape;93;p7"/>
          <p:cNvPicPr preferRelativeResize="0"/>
          <p:nvPr/>
        </p:nvPicPr>
        <p:blipFill rotWithShape="1">
          <a:blip r:embed="rId6">
            <a:alphaModFix/>
          </a:blip>
          <a:srcRect b="0" l="0" r="0" t="0"/>
          <a:stretch/>
        </p:blipFill>
        <p:spPr>
          <a:xfrm>
            <a:off x="447563" y="1571232"/>
            <a:ext cx="4456586" cy="4456586"/>
          </a:xfrm>
          <a:prstGeom prst="rect">
            <a:avLst/>
          </a:prstGeom>
          <a:noFill/>
          <a:ln>
            <a:noFill/>
          </a:ln>
        </p:spPr>
      </p:pic>
      <p:pic>
        <p:nvPicPr>
          <p:cNvPr id="94" name="Google Shape;94;p7"/>
          <p:cNvPicPr preferRelativeResize="0"/>
          <p:nvPr/>
        </p:nvPicPr>
        <p:blipFill rotWithShape="1">
          <a:blip r:embed="rId7">
            <a:alphaModFix/>
          </a:blip>
          <a:srcRect b="0" l="0" r="0" t="0"/>
          <a:stretch/>
        </p:blipFill>
        <p:spPr>
          <a:xfrm>
            <a:off x="2974865" y="2418745"/>
            <a:ext cx="4218520" cy="1304599"/>
          </a:xfrm>
          <a:prstGeom prst="rect">
            <a:avLst/>
          </a:prstGeom>
          <a:noFill/>
          <a:ln>
            <a:noFill/>
          </a:ln>
        </p:spPr>
      </p:pic>
      <p:pic>
        <p:nvPicPr>
          <p:cNvPr id="95" name="Google Shape;95;p7"/>
          <p:cNvPicPr preferRelativeResize="0"/>
          <p:nvPr/>
        </p:nvPicPr>
        <p:blipFill rotWithShape="1">
          <a:blip r:embed="rId8">
            <a:alphaModFix/>
          </a:blip>
          <a:srcRect b="0" l="0" r="0" t="0"/>
          <a:stretch/>
        </p:blipFill>
        <p:spPr>
          <a:xfrm>
            <a:off x="2936776" y="3657924"/>
            <a:ext cx="104749" cy="104749"/>
          </a:xfrm>
          <a:prstGeom prst="rect">
            <a:avLst/>
          </a:prstGeom>
          <a:noFill/>
          <a:ln>
            <a:noFill/>
          </a:ln>
        </p:spPr>
      </p:pic>
      <p:pic>
        <p:nvPicPr>
          <p:cNvPr id="96" name="Google Shape;96;p7"/>
          <p:cNvPicPr preferRelativeResize="0"/>
          <p:nvPr/>
        </p:nvPicPr>
        <p:blipFill rotWithShape="1">
          <a:blip r:embed="rId9">
            <a:alphaModFix/>
          </a:blip>
          <a:srcRect b="0" l="0" r="0" t="0"/>
          <a:stretch/>
        </p:blipFill>
        <p:spPr>
          <a:xfrm>
            <a:off x="3534987" y="3449665"/>
            <a:ext cx="2780605" cy="285679"/>
          </a:xfrm>
          <a:prstGeom prst="rect">
            <a:avLst/>
          </a:prstGeom>
          <a:noFill/>
          <a:ln>
            <a:noFill/>
          </a:ln>
        </p:spPr>
      </p:pic>
      <p:pic>
        <p:nvPicPr>
          <p:cNvPr id="97" name="Google Shape;97;p7"/>
          <p:cNvPicPr preferRelativeResize="0"/>
          <p:nvPr/>
        </p:nvPicPr>
        <p:blipFill rotWithShape="1">
          <a:blip r:embed="rId10">
            <a:alphaModFix/>
          </a:blip>
          <a:srcRect b="0" l="0" r="0" t="0"/>
          <a:stretch/>
        </p:blipFill>
        <p:spPr>
          <a:xfrm>
            <a:off x="3496898" y="3670398"/>
            <a:ext cx="95226" cy="95226"/>
          </a:xfrm>
          <a:prstGeom prst="rect">
            <a:avLst/>
          </a:prstGeom>
          <a:noFill/>
          <a:ln>
            <a:noFill/>
          </a:ln>
        </p:spPr>
      </p:pic>
      <p:pic>
        <p:nvPicPr>
          <p:cNvPr id="98" name="Google Shape;98;p7"/>
          <p:cNvPicPr preferRelativeResize="0"/>
          <p:nvPr/>
        </p:nvPicPr>
        <p:blipFill rotWithShape="1">
          <a:blip r:embed="rId11">
            <a:alphaModFix/>
          </a:blip>
          <a:srcRect b="0" l="0" r="0" t="0"/>
          <a:stretch/>
        </p:blipFill>
        <p:spPr>
          <a:xfrm>
            <a:off x="4078823" y="3957791"/>
            <a:ext cx="2133067" cy="276156"/>
          </a:xfrm>
          <a:prstGeom prst="rect">
            <a:avLst/>
          </a:prstGeom>
          <a:noFill/>
          <a:ln>
            <a:noFill/>
          </a:ln>
        </p:spPr>
      </p:pic>
      <p:pic>
        <p:nvPicPr>
          <p:cNvPr id="99" name="Google Shape;99;p7"/>
          <p:cNvPicPr preferRelativeResize="0"/>
          <p:nvPr/>
        </p:nvPicPr>
        <p:blipFill rotWithShape="1">
          <a:blip r:embed="rId12">
            <a:alphaModFix/>
          </a:blip>
          <a:srcRect b="0" l="0" r="0" t="0"/>
          <a:stretch/>
        </p:blipFill>
        <p:spPr>
          <a:xfrm>
            <a:off x="4040734" y="3919701"/>
            <a:ext cx="104749" cy="95226"/>
          </a:xfrm>
          <a:prstGeom prst="rect">
            <a:avLst/>
          </a:prstGeom>
          <a:noFill/>
          <a:ln>
            <a:noFill/>
          </a:ln>
        </p:spPr>
      </p:pic>
      <p:pic>
        <p:nvPicPr>
          <p:cNvPr id="100" name="Google Shape;100;p7"/>
          <p:cNvPicPr preferRelativeResize="0"/>
          <p:nvPr/>
        </p:nvPicPr>
        <p:blipFill rotWithShape="1">
          <a:blip r:embed="rId13">
            <a:alphaModFix/>
          </a:blip>
          <a:srcRect b="0" l="0" r="0" t="0"/>
          <a:stretch/>
        </p:blipFill>
        <p:spPr>
          <a:xfrm>
            <a:off x="4547052" y="4384214"/>
            <a:ext cx="2875831" cy="923694"/>
          </a:xfrm>
          <a:prstGeom prst="rect">
            <a:avLst/>
          </a:prstGeom>
          <a:noFill/>
          <a:ln>
            <a:noFill/>
          </a:ln>
        </p:spPr>
      </p:pic>
      <p:pic>
        <p:nvPicPr>
          <p:cNvPr id="101" name="Google Shape;101;p7"/>
          <p:cNvPicPr preferRelativeResize="0"/>
          <p:nvPr/>
        </p:nvPicPr>
        <p:blipFill rotWithShape="1">
          <a:blip r:embed="rId12">
            <a:alphaModFix/>
          </a:blip>
          <a:srcRect b="0" l="0" r="0" t="0"/>
          <a:stretch/>
        </p:blipFill>
        <p:spPr>
          <a:xfrm>
            <a:off x="4508959" y="4346124"/>
            <a:ext cx="104749" cy="95226"/>
          </a:xfrm>
          <a:prstGeom prst="rect">
            <a:avLst/>
          </a:prstGeom>
          <a:noFill/>
          <a:ln>
            <a:noFill/>
          </a:ln>
        </p:spPr>
      </p:pic>
      <p:sp>
        <p:nvSpPr>
          <p:cNvPr id="102" name="Google Shape;102;p7"/>
          <p:cNvSpPr/>
          <p:nvPr/>
        </p:nvSpPr>
        <p:spPr>
          <a:xfrm>
            <a:off x="6299212" y="1810190"/>
            <a:ext cx="4472774"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Click Any Word</a:t>
            </a:r>
            <a:endParaRPr b="0" i="0" sz="1800" u="none" cap="none" strike="noStrike">
              <a:solidFill>
                <a:schemeClr val="dk1"/>
              </a:solidFill>
              <a:latin typeface="Arial"/>
              <a:ea typeface="Arial"/>
              <a:cs typeface="Arial"/>
              <a:sym typeface="Arial"/>
            </a:endParaRPr>
          </a:p>
        </p:txBody>
      </p:sp>
      <p:sp>
        <p:nvSpPr>
          <p:cNvPr id="103" name="Google Shape;103;p7"/>
          <p:cNvSpPr/>
          <p:nvPr/>
        </p:nvSpPr>
        <p:spPr>
          <a:xfrm>
            <a:off x="6299212" y="2142887"/>
            <a:ext cx="4472774" cy="253540"/>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Instantly view translation and definition</a:t>
            </a:r>
            <a:endParaRPr b="0" i="0" sz="1800" u="none" cap="none" strike="noStrike">
              <a:solidFill>
                <a:schemeClr val="dk1"/>
              </a:solidFill>
              <a:latin typeface="Arial"/>
              <a:ea typeface="Arial"/>
              <a:cs typeface="Arial"/>
              <a:sym typeface="Arial"/>
            </a:endParaRPr>
          </a:p>
        </p:txBody>
      </p:sp>
      <p:sp>
        <p:nvSpPr>
          <p:cNvPr id="104" name="Google Shape;104;p7"/>
          <p:cNvSpPr/>
          <p:nvPr/>
        </p:nvSpPr>
        <p:spPr>
          <a:xfrm>
            <a:off x="6399200" y="3000518"/>
            <a:ext cx="4315651"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Difficulty Indicator</a:t>
            </a:r>
            <a:endParaRPr b="0" i="0" sz="1800" u="none" cap="none" strike="noStrike">
              <a:solidFill>
                <a:schemeClr val="dk1"/>
              </a:solidFill>
              <a:latin typeface="Arial"/>
              <a:ea typeface="Arial"/>
              <a:cs typeface="Arial"/>
              <a:sym typeface="Arial"/>
            </a:endParaRPr>
          </a:p>
        </p:txBody>
      </p:sp>
      <p:sp>
        <p:nvSpPr>
          <p:cNvPr id="105" name="Google Shape;105;p7"/>
          <p:cNvSpPr/>
          <p:nvPr/>
        </p:nvSpPr>
        <p:spPr>
          <a:xfrm>
            <a:off x="6399200" y="3333214"/>
            <a:ext cx="4315651" cy="253540"/>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See word's CEFR level at a glance</a:t>
            </a:r>
            <a:endParaRPr b="0" i="0" sz="1800" u="none" cap="none" strike="noStrike">
              <a:solidFill>
                <a:schemeClr val="dk1"/>
              </a:solidFill>
              <a:latin typeface="Arial"/>
              <a:ea typeface="Arial"/>
              <a:cs typeface="Arial"/>
              <a:sym typeface="Arial"/>
            </a:endParaRPr>
          </a:p>
        </p:txBody>
      </p:sp>
      <p:sp>
        <p:nvSpPr>
          <p:cNvPr id="106" name="Google Shape;106;p7"/>
          <p:cNvSpPr/>
          <p:nvPr/>
        </p:nvSpPr>
        <p:spPr>
          <a:xfrm>
            <a:off x="6294451" y="4190845"/>
            <a:ext cx="4210902"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Contextual Examples</a:t>
            </a:r>
            <a:endParaRPr b="0" i="0" sz="1800" u="none" cap="none" strike="noStrike">
              <a:solidFill>
                <a:schemeClr val="dk1"/>
              </a:solidFill>
              <a:latin typeface="Arial"/>
              <a:ea typeface="Arial"/>
              <a:cs typeface="Arial"/>
              <a:sym typeface="Arial"/>
            </a:endParaRPr>
          </a:p>
        </p:txBody>
      </p:sp>
      <p:sp>
        <p:nvSpPr>
          <p:cNvPr id="107" name="Google Shape;107;p7"/>
          <p:cNvSpPr/>
          <p:nvPr/>
        </p:nvSpPr>
        <p:spPr>
          <a:xfrm>
            <a:off x="6294451" y="4523541"/>
            <a:ext cx="4210902" cy="253540"/>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Learn new words in real-world usage</a:t>
            </a:r>
            <a:endParaRPr b="0" i="0" sz="1800" u="none" cap="none" strike="noStrike">
              <a:solidFill>
                <a:schemeClr val="dk1"/>
              </a:solidFill>
              <a:latin typeface="Arial"/>
              <a:ea typeface="Arial"/>
              <a:cs typeface="Arial"/>
              <a:sym typeface="Arial"/>
            </a:endParaRPr>
          </a:p>
        </p:txBody>
      </p:sp>
      <p:sp>
        <p:nvSpPr>
          <p:cNvPr id="108" name="Google Shape;108;p7"/>
          <p:cNvSpPr/>
          <p:nvPr/>
        </p:nvSpPr>
        <p:spPr>
          <a:xfrm>
            <a:off x="6670594" y="5381172"/>
            <a:ext cx="4074729"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No Context Switching</a:t>
            </a:r>
            <a:endParaRPr b="0" i="0" sz="1800" u="none" cap="none" strike="noStrike">
              <a:solidFill>
                <a:schemeClr val="dk1"/>
              </a:solidFill>
              <a:latin typeface="Arial"/>
              <a:ea typeface="Arial"/>
              <a:cs typeface="Arial"/>
              <a:sym typeface="Arial"/>
            </a:endParaRPr>
          </a:p>
        </p:txBody>
      </p:sp>
      <p:sp>
        <p:nvSpPr>
          <p:cNvPr id="109" name="Google Shape;109;p7"/>
          <p:cNvSpPr/>
          <p:nvPr/>
        </p:nvSpPr>
        <p:spPr>
          <a:xfrm>
            <a:off x="6670594" y="5713869"/>
            <a:ext cx="4074729" cy="253540"/>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Stay focused on the article content</a:t>
            </a:r>
            <a:endParaRPr b="0" i="0" sz="1800" u="none" cap="none" strike="noStrike">
              <a:solidFill>
                <a:schemeClr val="dk1"/>
              </a:solidFill>
              <a:latin typeface="Arial"/>
              <a:ea typeface="Arial"/>
              <a:cs typeface="Arial"/>
              <a:sym typeface="Arial"/>
            </a:endParaRPr>
          </a:p>
        </p:txBody>
      </p:sp>
      <p:sp>
        <p:nvSpPr>
          <p:cNvPr id="110" name="Google Shape;110;p7"/>
          <p:cNvSpPr/>
          <p:nvPr/>
        </p:nvSpPr>
        <p:spPr>
          <a:xfrm>
            <a:off x="11865183" y="6519720"/>
            <a:ext cx="133317" cy="228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txBox="1"/>
          <p:nvPr>
            <p:ph idx="12" type="sldNum"/>
          </p:nvPr>
        </p:nvSpPr>
        <p:spPr>
          <a:xfrm>
            <a:off x="11826240" y="651510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16" name="Shape 116"/>
        <p:cNvGrpSpPr/>
        <p:nvPr/>
      </p:nvGrpSpPr>
      <p:grpSpPr>
        <a:xfrm>
          <a:off x="0" y="0"/>
          <a:ext cx="0" cy="0"/>
          <a:chOff x="0" y="0"/>
          <a:chExt cx="0" cy="0"/>
        </a:xfrm>
      </p:grpSpPr>
      <p:sp>
        <p:nvSpPr>
          <p:cNvPr id="117" name="Google Shape;117;p8"/>
          <p:cNvSpPr/>
          <p:nvPr/>
        </p:nvSpPr>
        <p:spPr>
          <a:xfrm>
            <a:off x="0" y="458127"/>
            <a:ext cx="12188952" cy="493242"/>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Personalized Vocabulary Tracking</a:t>
            </a:r>
            <a:endParaRPr b="0" i="0" sz="1800" u="none" cap="none" strike="noStrike">
              <a:solidFill>
                <a:schemeClr val="dk1"/>
              </a:solidFill>
              <a:latin typeface="Arial"/>
              <a:ea typeface="Arial"/>
              <a:cs typeface="Arial"/>
              <a:sym typeface="Arial"/>
            </a:endParaRPr>
          </a:p>
        </p:txBody>
      </p:sp>
      <p:pic>
        <p:nvPicPr>
          <p:cNvPr id="118" name="Google Shape;118;p8"/>
          <p:cNvPicPr preferRelativeResize="0"/>
          <p:nvPr/>
        </p:nvPicPr>
        <p:blipFill rotWithShape="1">
          <a:blip r:embed="rId3">
            <a:alphaModFix/>
          </a:blip>
          <a:srcRect b="0" l="0" r="0" t="0"/>
          <a:stretch/>
        </p:blipFill>
        <p:spPr>
          <a:xfrm>
            <a:off x="2097356" y="3221026"/>
            <a:ext cx="1161759" cy="1161759"/>
          </a:xfrm>
          <a:prstGeom prst="rect">
            <a:avLst/>
          </a:prstGeom>
          <a:noFill/>
          <a:ln>
            <a:noFill/>
          </a:ln>
        </p:spPr>
      </p:pic>
      <p:pic>
        <p:nvPicPr>
          <p:cNvPr id="119" name="Google Shape;119;p8"/>
          <p:cNvPicPr preferRelativeResize="0"/>
          <p:nvPr/>
        </p:nvPicPr>
        <p:blipFill rotWithShape="1">
          <a:blip r:embed="rId4">
            <a:alphaModFix/>
          </a:blip>
          <a:srcRect b="0" l="0" r="0" t="0"/>
          <a:stretch/>
        </p:blipFill>
        <p:spPr>
          <a:xfrm>
            <a:off x="1547426" y="2671095"/>
            <a:ext cx="2256861" cy="2256861"/>
          </a:xfrm>
          <a:prstGeom prst="rect">
            <a:avLst/>
          </a:prstGeom>
          <a:noFill/>
          <a:ln>
            <a:noFill/>
          </a:ln>
        </p:spPr>
      </p:pic>
      <p:pic>
        <p:nvPicPr>
          <p:cNvPr id="120" name="Google Shape;120;p8"/>
          <p:cNvPicPr preferRelativeResize="0"/>
          <p:nvPr/>
        </p:nvPicPr>
        <p:blipFill rotWithShape="1">
          <a:blip r:embed="rId5">
            <a:alphaModFix/>
          </a:blip>
          <a:srcRect b="0" l="0" r="0" t="0"/>
          <a:stretch/>
        </p:blipFill>
        <p:spPr>
          <a:xfrm>
            <a:off x="997493" y="2121164"/>
            <a:ext cx="3361484" cy="3361484"/>
          </a:xfrm>
          <a:prstGeom prst="rect">
            <a:avLst/>
          </a:prstGeom>
          <a:noFill/>
          <a:ln>
            <a:noFill/>
          </a:ln>
        </p:spPr>
      </p:pic>
      <p:pic>
        <p:nvPicPr>
          <p:cNvPr id="121" name="Google Shape;121;p8"/>
          <p:cNvPicPr preferRelativeResize="0"/>
          <p:nvPr/>
        </p:nvPicPr>
        <p:blipFill rotWithShape="1">
          <a:blip r:embed="rId6">
            <a:alphaModFix/>
          </a:blip>
          <a:srcRect b="0" l="0" r="0" t="0"/>
          <a:stretch/>
        </p:blipFill>
        <p:spPr>
          <a:xfrm>
            <a:off x="447563" y="1571232"/>
            <a:ext cx="4456586" cy="4456586"/>
          </a:xfrm>
          <a:prstGeom prst="rect">
            <a:avLst/>
          </a:prstGeom>
          <a:noFill/>
          <a:ln>
            <a:noFill/>
          </a:ln>
        </p:spPr>
      </p:pic>
      <p:pic>
        <p:nvPicPr>
          <p:cNvPr id="122" name="Google Shape;122;p8"/>
          <p:cNvPicPr preferRelativeResize="0"/>
          <p:nvPr/>
        </p:nvPicPr>
        <p:blipFill rotWithShape="1">
          <a:blip r:embed="rId7">
            <a:alphaModFix/>
          </a:blip>
          <a:srcRect b="0" l="0" r="0" t="0"/>
          <a:stretch/>
        </p:blipFill>
        <p:spPr>
          <a:xfrm>
            <a:off x="2974772" y="2542540"/>
            <a:ext cx="3790002" cy="1180805"/>
          </a:xfrm>
          <a:prstGeom prst="rect">
            <a:avLst/>
          </a:prstGeom>
          <a:noFill/>
          <a:ln>
            <a:noFill/>
          </a:ln>
        </p:spPr>
      </p:pic>
      <p:pic>
        <p:nvPicPr>
          <p:cNvPr id="123" name="Google Shape;123;p8"/>
          <p:cNvPicPr preferRelativeResize="0"/>
          <p:nvPr/>
        </p:nvPicPr>
        <p:blipFill rotWithShape="1">
          <a:blip r:embed="rId8">
            <a:alphaModFix/>
          </a:blip>
          <a:srcRect b="0" l="0" r="0" t="0"/>
          <a:stretch/>
        </p:blipFill>
        <p:spPr>
          <a:xfrm>
            <a:off x="2936679" y="3657448"/>
            <a:ext cx="104749" cy="95226"/>
          </a:xfrm>
          <a:prstGeom prst="rect">
            <a:avLst/>
          </a:prstGeom>
          <a:noFill/>
          <a:ln>
            <a:noFill/>
          </a:ln>
        </p:spPr>
      </p:pic>
      <p:pic>
        <p:nvPicPr>
          <p:cNvPr id="124" name="Google Shape;124;p8"/>
          <p:cNvPicPr preferRelativeResize="0"/>
          <p:nvPr/>
        </p:nvPicPr>
        <p:blipFill rotWithShape="1">
          <a:blip r:embed="rId9">
            <a:alphaModFix/>
          </a:blip>
          <a:srcRect b="0" l="0" r="0" t="0"/>
          <a:stretch/>
        </p:blipFill>
        <p:spPr>
          <a:xfrm>
            <a:off x="3535274" y="3446141"/>
            <a:ext cx="2952012" cy="285679"/>
          </a:xfrm>
          <a:prstGeom prst="rect">
            <a:avLst/>
          </a:prstGeom>
          <a:noFill/>
          <a:ln>
            <a:noFill/>
          </a:ln>
        </p:spPr>
      </p:pic>
      <p:pic>
        <p:nvPicPr>
          <p:cNvPr id="125" name="Google Shape;125;p8"/>
          <p:cNvPicPr preferRelativeResize="0"/>
          <p:nvPr/>
        </p:nvPicPr>
        <p:blipFill rotWithShape="1">
          <a:blip r:embed="rId8">
            <a:alphaModFix/>
          </a:blip>
          <a:srcRect b="0" l="0" r="0" t="0"/>
          <a:stretch/>
        </p:blipFill>
        <p:spPr>
          <a:xfrm>
            <a:off x="3497181" y="3673160"/>
            <a:ext cx="104749" cy="95226"/>
          </a:xfrm>
          <a:prstGeom prst="rect">
            <a:avLst/>
          </a:prstGeom>
          <a:noFill/>
          <a:ln>
            <a:noFill/>
          </a:ln>
        </p:spPr>
      </p:pic>
      <p:pic>
        <p:nvPicPr>
          <p:cNvPr id="126" name="Google Shape;126;p8"/>
          <p:cNvPicPr preferRelativeResize="0"/>
          <p:nvPr/>
        </p:nvPicPr>
        <p:blipFill rotWithShape="1">
          <a:blip r:embed="rId10">
            <a:alphaModFix/>
          </a:blip>
          <a:srcRect b="0" l="0" r="0" t="0"/>
          <a:stretch/>
        </p:blipFill>
        <p:spPr>
          <a:xfrm>
            <a:off x="4079871" y="3949126"/>
            <a:ext cx="2542539" cy="304724"/>
          </a:xfrm>
          <a:prstGeom prst="rect">
            <a:avLst/>
          </a:prstGeom>
          <a:noFill/>
          <a:ln>
            <a:noFill/>
          </a:ln>
        </p:spPr>
      </p:pic>
      <p:pic>
        <p:nvPicPr>
          <p:cNvPr id="127" name="Google Shape;127;p8"/>
          <p:cNvPicPr preferRelativeResize="0"/>
          <p:nvPr/>
        </p:nvPicPr>
        <p:blipFill rotWithShape="1">
          <a:blip r:embed="rId11">
            <a:alphaModFix/>
          </a:blip>
          <a:srcRect b="0" l="0" r="0" t="0"/>
          <a:stretch/>
        </p:blipFill>
        <p:spPr>
          <a:xfrm>
            <a:off x="4041782" y="3911035"/>
            <a:ext cx="95226" cy="95226"/>
          </a:xfrm>
          <a:prstGeom prst="rect">
            <a:avLst/>
          </a:prstGeom>
          <a:noFill/>
          <a:ln>
            <a:noFill/>
          </a:ln>
        </p:spPr>
      </p:pic>
      <p:pic>
        <p:nvPicPr>
          <p:cNvPr id="128" name="Google Shape;128;p8"/>
          <p:cNvPicPr preferRelativeResize="0"/>
          <p:nvPr/>
        </p:nvPicPr>
        <p:blipFill rotWithShape="1">
          <a:blip r:embed="rId12">
            <a:alphaModFix/>
          </a:blip>
          <a:srcRect b="0" l="0" r="0" t="0"/>
          <a:stretch/>
        </p:blipFill>
        <p:spPr>
          <a:xfrm>
            <a:off x="4537528" y="4413734"/>
            <a:ext cx="2637765" cy="895126"/>
          </a:xfrm>
          <a:prstGeom prst="rect">
            <a:avLst/>
          </a:prstGeom>
          <a:noFill/>
          <a:ln>
            <a:noFill/>
          </a:ln>
        </p:spPr>
      </p:pic>
      <p:pic>
        <p:nvPicPr>
          <p:cNvPr id="129" name="Google Shape;129;p8"/>
          <p:cNvPicPr preferRelativeResize="0"/>
          <p:nvPr/>
        </p:nvPicPr>
        <p:blipFill rotWithShape="1">
          <a:blip r:embed="rId11">
            <a:alphaModFix/>
          </a:blip>
          <a:srcRect b="0" l="0" r="0" t="0"/>
          <a:stretch/>
        </p:blipFill>
        <p:spPr>
          <a:xfrm>
            <a:off x="4499439" y="4375644"/>
            <a:ext cx="95226" cy="95226"/>
          </a:xfrm>
          <a:prstGeom prst="rect">
            <a:avLst/>
          </a:prstGeom>
          <a:noFill/>
          <a:ln>
            <a:noFill/>
          </a:ln>
        </p:spPr>
      </p:pic>
      <p:sp>
        <p:nvSpPr>
          <p:cNvPr id="130" name="Google Shape;130;p8"/>
          <p:cNvSpPr/>
          <p:nvPr/>
        </p:nvSpPr>
        <p:spPr>
          <a:xfrm>
            <a:off x="6456336" y="1686396"/>
            <a:ext cx="4064254"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Saved Words</a:t>
            </a:r>
            <a:endParaRPr b="0" i="0" sz="1800" u="none" cap="none" strike="noStrike">
              <a:solidFill>
                <a:schemeClr val="dk1"/>
              </a:solidFill>
              <a:latin typeface="Arial"/>
              <a:ea typeface="Arial"/>
              <a:cs typeface="Arial"/>
              <a:sym typeface="Arial"/>
            </a:endParaRPr>
          </a:p>
        </p:txBody>
      </p:sp>
      <p:sp>
        <p:nvSpPr>
          <p:cNvPr id="131" name="Google Shape;131;p8"/>
          <p:cNvSpPr/>
          <p:nvPr/>
        </p:nvSpPr>
        <p:spPr>
          <a:xfrm>
            <a:off x="6456336" y="2019093"/>
            <a:ext cx="4064254"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LinguaNews tracks vocabulary words you look up</a:t>
            </a:r>
            <a:endParaRPr b="0" i="0" sz="1800" u="none" cap="none" strike="noStrike">
              <a:solidFill>
                <a:schemeClr val="dk1"/>
              </a:solidFill>
              <a:latin typeface="Arial"/>
              <a:ea typeface="Arial"/>
              <a:cs typeface="Arial"/>
              <a:sym typeface="Arial"/>
            </a:endParaRPr>
          </a:p>
        </p:txBody>
      </p:sp>
      <p:sp>
        <p:nvSpPr>
          <p:cNvPr id="132" name="Google Shape;132;p8"/>
          <p:cNvSpPr/>
          <p:nvPr/>
        </p:nvSpPr>
        <p:spPr>
          <a:xfrm>
            <a:off x="6565846" y="2876724"/>
            <a:ext cx="4388975"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Vocabulary List</a:t>
            </a:r>
            <a:endParaRPr b="0" i="0" sz="1800" u="none" cap="none" strike="noStrike">
              <a:solidFill>
                <a:schemeClr val="dk1"/>
              </a:solidFill>
              <a:latin typeface="Arial"/>
              <a:ea typeface="Arial"/>
              <a:cs typeface="Arial"/>
              <a:sym typeface="Arial"/>
            </a:endParaRPr>
          </a:p>
        </p:txBody>
      </p:sp>
      <p:sp>
        <p:nvSpPr>
          <p:cNvPr id="133" name="Google Shape;133;p8"/>
          <p:cNvSpPr/>
          <p:nvPr/>
        </p:nvSpPr>
        <p:spPr>
          <a:xfrm>
            <a:off x="6565846" y="3209420"/>
            <a:ext cx="4388975"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Review and practice your growing word bank</a:t>
            </a:r>
            <a:endParaRPr b="0" i="0" sz="1800" u="none" cap="none" strike="noStrike">
              <a:solidFill>
                <a:schemeClr val="dk1"/>
              </a:solidFill>
              <a:latin typeface="Arial"/>
              <a:ea typeface="Arial"/>
              <a:cs typeface="Arial"/>
              <a:sym typeface="Arial"/>
            </a:endParaRPr>
          </a:p>
        </p:txBody>
      </p:sp>
      <p:sp>
        <p:nvSpPr>
          <p:cNvPr id="134" name="Google Shape;134;p8"/>
          <p:cNvSpPr/>
          <p:nvPr/>
        </p:nvSpPr>
        <p:spPr>
          <a:xfrm>
            <a:off x="6699162" y="4067051"/>
            <a:ext cx="3990930"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Difficulty Levels</a:t>
            </a:r>
            <a:endParaRPr b="0" i="0" sz="1800" u="none" cap="none" strike="noStrike">
              <a:solidFill>
                <a:schemeClr val="dk1"/>
              </a:solidFill>
              <a:latin typeface="Arial"/>
              <a:ea typeface="Arial"/>
              <a:cs typeface="Arial"/>
              <a:sym typeface="Arial"/>
            </a:endParaRPr>
          </a:p>
        </p:txBody>
      </p:sp>
      <p:sp>
        <p:nvSpPr>
          <p:cNvPr id="135" name="Google Shape;135;p8"/>
          <p:cNvSpPr/>
          <p:nvPr/>
        </p:nvSpPr>
        <p:spPr>
          <a:xfrm>
            <a:off x="6699162" y="4399747"/>
            <a:ext cx="3990930" cy="507079"/>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Words are categorized by beginner, intermediate, advanced</a:t>
            </a:r>
            <a:endParaRPr b="0" i="0" sz="1800" u="none" cap="none" strike="noStrike">
              <a:solidFill>
                <a:schemeClr val="dk1"/>
              </a:solidFill>
              <a:latin typeface="Arial"/>
              <a:ea typeface="Arial"/>
              <a:cs typeface="Arial"/>
              <a:sym typeface="Arial"/>
            </a:endParaRPr>
          </a:p>
        </p:txBody>
      </p:sp>
      <p:sp>
        <p:nvSpPr>
          <p:cNvPr id="136" name="Google Shape;136;p8"/>
          <p:cNvSpPr/>
          <p:nvPr/>
        </p:nvSpPr>
        <p:spPr>
          <a:xfrm>
            <a:off x="6308735" y="5381172"/>
            <a:ext cx="4200427" cy="236726"/>
          </a:xfrm>
          <a:prstGeom prst="rect">
            <a:avLst/>
          </a:prstGeom>
          <a:noFill/>
          <a:ln>
            <a:noFill/>
          </a:ln>
        </p:spPr>
        <p:txBody>
          <a:bodyPr anchorCtr="0" anchor="t" bIns="0" lIns="0" spcFirstLastPara="1" rIns="0" wrap="square" tIns="0">
            <a:noAutofit/>
          </a:bodyPr>
          <a:lstStyle/>
          <a:p>
            <a:pPr indent="0" lvl="0" marL="0" marR="0" rtl="0" algn="l">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Progress Tracking</a:t>
            </a:r>
            <a:endParaRPr b="0" i="0" sz="1800" u="none" cap="none" strike="noStrike">
              <a:solidFill>
                <a:schemeClr val="dk1"/>
              </a:solidFill>
              <a:latin typeface="Arial"/>
              <a:ea typeface="Arial"/>
              <a:cs typeface="Arial"/>
              <a:sym typeface="Arial"/>
            </a:endParaRPr>
          </a:p>
        </p:txBody>
      </p:sp>
      <p:sp>
        <p:nvSpPr>
          <p:cNvPr id="137" name="Google Shape;137;p8"/>
          <p:cNvSpPr/>
          <p:nvPr/>
        </p:nvSpPr>
        <p:spPr>
          <a:xfrm>
            <a:off x="6308735" y="5713869"/>
            <a:ext cx="4200427" cy="253540"/>
          </a:xfrm>
          <a:prstGeom prst="rect">
            <a:avLst/>
          </a:prstGeom>
          <a:noFill/>
          <a:ln>
            <a:noFill/>
          </a:ln>
        </p:spPr>
        <p:txBody>
          <a:bodyPr anchorCtr="0" anchor="t" bIns="0" lIns="0" spcFirstLastPara="1" rIns="0" wrap="square" tIns="0">
            <a:noAutofit/>
          </a:bodyPr>
          <a:lstStyle/>
          <a:p>
            <a:pPr indent="0" lvl="0" marL="0" marR="0" rtl="0" algn="l">
              <a:lnSpc>
                <a:spcPct val="133200"/>
              </a:lnSpc>
              <a:spcBef>
                <a:spcPts val="0"/>
              </a:spcBef>
              <a:spcAft>
                <a:spcPts val="0"/>
              </a:spcAft>
              <a:buClr>
                <a:srgbClr val="000000"/>
              </a:buClr>
              <a:buSzPts val="1500"/>
              <a:buFont typeface="Epilogue"/>
              <a:buNone/>
            </a:pPr>
            <a:r>
              <a:rPr b="0" i="0" lang="en-US" sz="1500" u="none" cap="none" strike="noStrike">
                <a:solidFill>
                  <a:srgbClr val="000000"/>
                </a:solidFill>
                <a:latin typeface="Epilogue"/>
                <a:ea typeface="Epilogue"/>
                <a:cs typeface="Epilogue"/>
                <a:sym typeface="Epilogue"/>
              </a:rPr>
              <a:t>Monitor your vocabulary growth over time</a:t>
            </a:r>
            <a:endParaRPr b="0" i="0" sz="1800" u="none" cap="none" strike="noStrike">
              <a:solidFill>
                <a:schemeClr val="dk1"/>
              </a:solidFill>
              <a:latin typeface="Arial"/>
              <a:ea typeface="Arial"/>
              <a:cs typeface="Arial"/>
              <a:sym typeface="Arial"/>
            </a:endParaRPr>
          </a:p>
        </p:txBody>
      </p:sp>
      <p:sp>
        <p:nvSpPr>
          <p:cNvPr id="138" name="Google Shape;138;p8"/>
          <p:cNvSpPr/>
          <p:nvPr/>
        </p:nvSpPr>
        <p:spPr>
          <a:xfrm>
            <a:off x="11865183" y="6519720"/>
            <a:ext cx="133317" cy="228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txBox="1"/>
          <p:nvPr>
            <p:ph idx="12" type="sldNum"/>
          </p:nvPr>
        </p:nvSpPr>
        <p:spPr>
          <a:xfrm>
            <a:off x="11826240" y="651510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44" name="Shape 144"/>
        <p:cNvGrpSpPr/>
        <p:nvPr/>
      </p:nvGrpSpPr>
      <p:grpSpPr>
        <a:xfrm>
          <a:off x="0" y="0"/>
          <a:ext cx="0" cy="0"/>
          <a:chOff x="0" y="0"/>
          <a:chExt cx="0" cy="0"/>
        </a:xfrm>
      </p:grpSpPr>
      <p:sp>
        <p:nvSpPr>
          <p:cNvPr id="145" name="Google Shape;145;p9"/>
          <p:cNvSpPr/>
          <p:nvPr/>
        </p:nvSpPr>
        <p:spPr>
          <a:xfrm>
            <a:off x="0" y="458127"/>
            <a:ext cx="12188952" cy="493242"/>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Comprehensive System Architecture</a:t>
            </a:r>
            <a:endParaRPr b="0" i="0" sz="1800" u="none" cap="none" strike="noStrike">
              <a:solidFill>
                <a:schemeClr val="dk1"/>
              </a:solidFill>
              <a:latin typeface="Arial"/>
              <a:ea typeface="Arial"/>
              <a:cs typeface="Arial"/>
              <a:sym typeface="Arial"/>
            </a:endParaRPr>
          </a:p>
        </p:txBody>
      </p:sp>
      <p:pic>
        <p:nvPicPr>
          <p:cNvPr id="146" name="Google Shape;146;p9"/>
          <p:cNvPicPr preferRelativeResize="0"/>
          <p:nvPr/>
        </p:nvPicPr>
        <p:blipFill rotWithShape="1">
          <a:blip r:embed="rId3">
            <a:alphaModFix/>
          </a:blip>
          <a:srcRect b="0" l="0" r="0" t="0"/>
          <a:stretch/>
        </p:blipFill>
        <p:spPr>
          <a:xfrm>
            <a:off x="476131" y="1633129"/>
            <a:ext cx="2952012" cy="1199850"/>
          </a:xfrm>
          <a:prstGeom prst="rect">
            <a:avLst/>
          </a:prstGeom>
          <a:noFill/>
          <a:ln>
            <a:noFill/>
          </a:ln>
        </p:spPr>
      </p:pic>
      <p:sp>
        <p:nvSpPr>
          <p:cNvPr id="147" name="Google Shape;147;p9"/>
          <p:cNvSpPr/>
          <p:nvPr/>
        </p:nvSpPr>
        <p:spPr>
          <a:xfrm>
            <a:off x="552312" y="2129198"/>
            <a:ext cx="2513971" cy="236726"/>
          </a:xfrm>
          <a:prstGeom prst="rect">
            <a:avLst/>
          </a:prstGeom>
          <a:noFill/>
          <a:ln>
            <a:noFill/>
          </a:ln>
        </p:spPr>
        <p:txBody>
          <a:bodyPr anchorCtr="0" anchor="t" bIns="0" lIns="0" spcFirstLastPara="1" rIns="0" wrap="square" tIns="0">
            <a:noAutofit/>
          </a:bodyPr>
          <a:lstStyle/>
          <a:p>
            <a:pPr indent="0" lvl="0" marL="0" marR="0" rtl="0" algn="ctr">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Presentation Layer</a:t>
            </a:r>
            <a:endParaRPr b="0" i="0" sz="1800" u="none" cap="none" strike="noStrike">
              <a:solidFill>
                <a:schemeClr val="dk1"/>
              </a:solidFill>
              <a:latin typeface="Arial"/>
              <a:ea typeface="Arial"/>
              <a:cs typeface="Arial"/>
              <a:sym typeface="Arial"/>
            </a:endParaRPr>
          </a:p>
        </p:txBody>
      </p:sp>
      <p:sp>
        <p:nvSpPr>
          <p:cNvPr id="148" name="Google Shape;148;p9"/>
          <p:cNvSpPr/>
          <p:nvPr/>
        </p:nvSpPr>
        <p:spPr>
          <a:xfrm>
            <a:off x="761810" y="2983853"/>
            <a:ext cx="2513971" cy="2587176"/>
          </a:xfrm>
          <a:prstGeom prst="rect">
            <a:avLst/>
          </a:prstGeom>
          <a:noFill/>
          <a:ln>
            <a:noFill/>
          </a:ln>
        </p:spPr>
        <p:txBody>
          <a:bodyPr anchorCtr="0" anchor="t" bIns="0" lIns="0" spcFirstLastPara="1" rIns="0" wrap="square" tIns="0">
            <a:noAutofit/>
          </a:bodyPr>
          <a:lstStyle/>
          <a:p>
            <a:pPr indent="0" lvl="0" marL="0" marR="0" rtl="0" algn="l">
              <a:lnSpc>
                <a:spcPct val="133176"/>
              </a:lnSpc>
              <a:spcBef>
                <a:spcPts val="0"/>
              </a:spcBef>
              <a:spcAft>
                <a:spcPts val="0"/>
              </a:spcAft>
              <a:buClr>
                <a:srgbClr val="000000"/>
              </a:buClr>
              <a:buSzPts val="1275"/>
              <a:buFont typeface="Epilogue"/>
              <a:buNone/>
            </a:pPr>
            <a:r>
              <a:rPr b="0" i="0" lang="en-US" sz="1275" u="none" cap="none" strike="noStrike">
                <a:solidFill>
                  <a:srgbClr val="000000"/>
                </a:solidFill>
                <a:latin typeface="Epilogue"/>
                <a:ea typeface="Epilogue"/>
                <a:cs typeface="Epilogue"/>
                <a:sym typeface="Epilogue"/>
              </a:rPr>
              <a:t>The Presentation Layer is responsible for the user-facing UI and interaction. It is built using ASP.NET Core Razor Pages and includes components for the Article Feed, Article Reader, Vocabulary List, and User Settings. This layer communicates with the Business Logic Layer to fetch and display data.</a:t>
            </a:r>
            <a:endParaRPr b="0" i="0" sz="1800" u="none" cap="none" strike="noStrike">
              <a:solidFill>
                <a:schemeClr val="dk1"/>
              </a:solidFill>
              <a:latin typeface="Arial"/>
              <a:ea typeface="Arial"/>
              <a:cs typeface="Arial"/>
              <a:sym typeface="Arial"/>
            </a:endParaRPr>
          </a:p>
        </p:txBody>
      </p:sp>
      <p:pic>
        <p:nvPicPr>
          <p:cNvPr id="149" name="Google Shape;149;p9"/>
          <p:cNvPicPr preferRelativeResize="0"/>
          <p:nvPr/>
        </p:nvPicPr>
        <p:blipFill rotWithShape="1">
          <a:blip r:embed="rId4">
            <a:alphaModFix/>
          </a:blip>
          <a:srcRect b="0" l="0" r="0" t="0"/>
          <a:stretch/>
        </p:blipFill>
        <p:spPr>
          <a:xfrm>
            <a:off x="3237690" y="1633129"/>
            <a:ext cx="2952012" cy="1199850"/>
          </a:xfrm>
          <a:prstGeom prst="rect">
            <a:avLst/>
          </a:prstGeom>
          <a:noFill/>
          <a:ln>
            <a:noFill/>
          </a:ln>
        </p:spPr>
      </p:pic>
      <p:sp>
        <p:nvSpPr>
          <p:cNvPr id="150" name="Google Shape;150;p9"/>
          <p:cNvSpPr/>
          <p:nvPr/>
        </p:nvSpPr>
        <p:spPr>
          <a:xfrm>
            <a:off x="3613834" y="2014927"/>
            <a:ext cx="2199725" cy="473453"/>
          </a:xfrm>
          <a:prstGeom prst="rect">
            <a:avLst/>
          </a:prstGeom>
          <a:noFill/>
          <a:ln>
            <a:noFill/>
          </a:ln>
        </p:spPr>
        <p:txBody>
          <a:bodyPr anchorCtr="0" anchor="t" bIns="0" lIns="0" spcFirstLastPara="1" rIns="0" wrap="square" tIns="0">
            <a:noAutofit/>
          </a:bodyPr>
          <a:lstStyle/>
          <a:p>
            <a:pPr indent="0" lvl="0" marL="0" marR="0" rtl="0" algn="ctr">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Business Logic Layer</a:t>
            </a:r>
            <a:endParaRPr b="0" i="0" sz="1800" u="none" cap="none" strike="noStrike">
              <a:solidFill>
                <a:schemeClr val="dk1"/>
              </a:solidFill>
              <a:latin typeface="Arial"/>
              <a:ea typeface="Arial"/>
              <a:cs typeface="Arial"/>
              <a:sym typeface="Arial"/>
            </a:endParaRPr>
          </a:p>
        </p:txBody>
      </p:sp>
      <p:sp>
        <p:nvSpPr>
          <p:cNvPr id="151" name="Google Shape;151;p9"/>
          <p:cNvSpPr/>
          <p:nvPr/>
        </p:nvSpPr>
        <p:spPr>
          <a:xfrm>
            <a:off x="3523369" y="2983853"/>
            <a:ext cx="2513971" cy="3233971"/>
          </a:xfrm>
          <a:prstGeom prst="rect">
            <a:avLst/>
          </a:prstGeom>
          <a:noFill/>
          <a:ln>
            <a:noFill/>
          </a:ln>
        </p:spPr>
        <p:txBody>
          <a:bodyPr anchorCtr="0" anchor="t" bIns="0" lIns="0" spcFirstLastPara="1" rIns="0" wrap="square" tIns="0">
            <a:noAutofit/>
          </a:bodyPr>
          <a:lstStyle/>
          <a:p>
            <a:pPr indent="0" lvl="0" marL="0" marR="0" rtl="0" algn="l">
              <a:lnSpc>
                <a:spcPct val="133176"/>
              </a:lnSpc>
              <a:spcBef>
                <a:spcPts val="0"/>
              </a:spcBef>
              <a:spcAft>
                <a:spcPts val="0"/>
              </a:spcAft>
              <a:buClr>
                <a:srgbClr val="000000"/>
              </a:buClr>
              <a:buSzPts val="1275"/>
              <a:buFont typeface="Epilogue"/>
              <a:buNone/>
            </a:pPr>
            <a:r>
              <a:rPr b="0" i="0" lang="en-US" sz="1275" u="none" cap="none" strike="noStrike">
                <a:solidFill>
                  <a:srgbClr val="000000"/>
                </a:solidFill>
                <a:latin typeface="Epilogue"/>
                <a:ea typeface="Epilogue"/>
                <a:cs typeface="Epilogue"/>
                <a:sym typeface="Epilogue"/>
              </a:rPr>
              <a:t>The Business Logic Layer houses the core application services, including the Article Service, Vocabulary Service, and User Service. These services handle tasks such as fetching news articles from NewsAPI, normalizing the article data, calculating difficulty estimates, and managing user vocabulary. The Business Logic Layer sits between the Presentation Layer and the Data Access Layer.</a:t>
            </a:r>
            <a:endParaRPr b="0" i="0" sz="1800" u="none" cap="none" strike="noStrike">
              <a:solidFill>
                <a:schemeClr val="dk1"/>
              </a:solidFill>
              <a:latin typeface="Arial"/>
              <a:ea typeface="Arial"/>
              <a:cs typeface="Arial"/>
              <a:sym typeface="Arial"/>
            </a:endParaRPr>
          </a:p>
        </p:txBody>
      </p:sp>
      <p:pic>
        <p:nvPicPr>
          <p:cNvPr id="152" name="Google Shape;152;p9"/>
          <p:cNvPicPr preferRelativeResize="0"/>
          <p:nvPr/>
        </p:nvPicPr>
        <p:blipFill rotWithShape="1">
          <a:blip r:embed="rId5">
            <a:alphaModFix/>
          </a:blip>
          <a:srcRect b="0" l="0" r="0" t="0"/>
          <a:stretch/>
        </p:blipFill>
        <p:spPr>
          <a:xfrm>
            <a:off x="5999250" y="1633129"/>
            <a:ext cx="2952012" cy="1199850"/>
          </a:xfrm>
          <a:prstGeom prst="rect">
            <a:avLst/>
          </a:prstGeom>
          <a:noFill/>
          <a:ln>
            <a:noFill/>
          </a:ln>
        </p:spPr>
      </p:pic>
      <p:sp>
        <p:nvSpPr>
          <p:cNvPr id="153" name="Google Shape;153;p9"/>
          <p:cNvSpPr/>
          <p:nvPr/>
        </p:nvSpPr>
        <p:spPr>
          <a:xfrm>
            <a:off x="6375393" y="2129198"/>
            <a:ext cx="2199725" cy="236726"/>
          </a:xfrm>
          <a:prstGeom prst="rect">
            <a:avLst/>
          </a:prstGeom>
          <a:noFill/>
          <a:ln>
            <a:noFill/>
          </a:ln>
        </p:spPr>
        <p:txBody>
          <a:bodyPr anchorCtr="0" anchor="t" bIns="0" lIns="0" spcFirstLastPara="1" rIns="0" wrap="square" tIns="0">
            <a:noAutofit/>
          </a:bodyPr>
          <a:lstStyle/>
          <a:p>
            <a:pPr indent="0" lvl="0" marL="0" marR="0" rtl="0" algn="ctr">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Data Access Layer</a:t>
            </a:r>
            <a:endParaRPr b="0" i="0" sz="1800" u="none" cap="none" strike="noStrike">
              <a:solidFill>
                <a:schemeClr val="dk1"/>
              </a:solidFill>
              <a:latin typeface="Arial"/>
              <a:ea typeface="Arial"/>
              <a:cs typeface="Arial"/>
              <a:sym typeface="Arial"/>
            </a:endParaRPr>
          </a:p>
        </p:txBody>
      </p:sp>
      <p:sp>
        <p:nvSpPr>
          <p:cNvPr id="154" name="Google Shape;154;p9"/>
          <p:cNvSpPr/>
          <p:nvPr/>
        </p:nvSpPr>
        <p:spPr>
          <a:xfrm>
            <a:off x="6284928" y="2983853"/>
            <a:ext cx="2513971" cy="3233971"/>
          </a:xfrm>
          <a:prstGeom prst="rect">
            <a:avLst/>
          </a:prstGeom>
          <a:noFill/>
          <a:ln>
            <a:noFill/>
          </a:ln>
        </p:spPr>
        <p:txBody>
          <a:bodyPr anchorCtr="0" anchor="t" bIns="0" lIns="0" spcFirstLastPara="1" rIns="0" wrap="square" tIns="0">
            <a:noAutofit/>
          </a:bodyPr>
          <a:lstStyle/>
          <a:p>
            <a:pPr indent="0" lvl="0" marL="0" marR="0" rtl="0" algn="l">
              <a:lnSpc>
                <a:spcPct val="133176"/>
              </a:lnSpc>
              <a:spcBef>
                <a:spcPts val="0"/>
              </a:spcBef>
              <a:spcAft>
                <a:spcPts val="0"/>
              </a:spcAft>
              <a:buClr>
                <a:srgbClr val="000000"/>
              </a:buClr>
              <a:buSzPts val="1275"/>
              <a:buFont typeface="Epilogue"/>
              <a:buNone/>
            </a:pPr>
            <a:r>
              <a:rPr b="0" i="0" lang="en-US" sz="1275" u="none" cap="none" strike="noStrike">
                <a:solidFill>
                  <a:srgbClr val="000000"/>
                </a:solidFill>
                <a:latin typeface="Epilogue"/>
                <a:ea typeface="Epilogue"/>
                <a:cs typeface="Epilogue"/>
                <a:sym typeface="Epilogue"/>
              </a:rPr>
              <a:t>The Data Access Layer is responsible for communicating with external data sources and the internal database. It includes an API Manager to handle HTTP client interactions, a Cache Manager to reduce API calls, and a Database Repository for storage. This layer abstracts the complexities of data retrieval and caching, allowing the Business Logic Layer to focus on application-specific logic.</a:t>
            </a:r>
            <a:endParaRPr b="0" i="0" sz="1800" u="none" cap="none" strike="noStrike">
              <a:solidFill>
                <a:schemeClr val="dk1"/>
              </a:solidFill>
              <a:latin typeface="Arial"/>
              <a:ea typeface="Arial"/>
              <a:cs typeface="Arial"/>
              <a:sym typeface="Arial"/>
            </a:endParaRPr>
          </a:p>
        </p:txBody>
      </p:sp>
      <p:pic>
        <p:nvPicPr>
          <p:cNvPr id="155" name="Google Shape;155;p9"/>
          <p:cNvPicPr preferRelativeResize="0"/>
          <p:nvPr/>
        </p:nvPicPr>
        <p:blipFill rotWithShape="1">
          <a:blip r:embed="rId6">
            <a:alphaModFix/>
          </a:blip>
          <a:srcRect b="0" l="0" r="0" t="0"/>
          <a:stretch/>
        </p:blipFill>
        <p:spPr>
          <a:xfrm>
            <a:off x="8760809" y="1633129"/>
            <a:ext cx="2952012" cy="1199850"/>
          </a:xfrm>
          <a:prstGeom prst="rect">
            <a:avLst/>
          </a:prstGeom>
          <a:noFill/>
          <a:ln>
            <a:noFill/>
          </a:ln>
        </p:spPr>
      </p:pic>
      <p:sp>
        <p:nvSpPr>
          <p:cNvPr id="156" name="Google Shape;156;p9"/>
          <p:cNvSpPr/>
          <p:nvPr/>
        </p:nvSpPr>
        <p:spPr>
          <a:xfrm>
            <a:off x="9136953" y="2014927"/>
            <a:ext cx="2199725" cy="473453"/>
          </a:xfrm>
          <a:prstGeom prst="rect">
            <a:avLst/>
          </a:prstGeom>
          <a:noFill/>
          <a:ln>
            <a:noFill/>
          </a:ln>
        </p:spPr>
        <p:txBody>
          <a:bodyPr anchorCtr="0" anchor="t" bIns="0" lIns="0" spcFirstLastPara="1" rIns="0" wrap="square" tIns="0">
            <a:noAutofit/>
          </a:bodyPr>
          <a:lstStyle/>
          <a:p>
            <a:pPr indent="0" lvl="0" marL="0" marR="0" rtl="0" algn="ctr">
              <a:lnSpc>
                <a:spcPct val="103611"/>
              </a:lnSpc>
              <a:spcBef>
                <a:spcPts val="0"/>
              </a:spcBef>
              <a:spcAft>
                <a:spcPts val="0"/>
              </a:spcAft>
              <a:buClr>
                <a:srgbClr val="FFFFFF"/>
              </a:buClr>
              <a:buSzPts val="1800"/>
              <a:buFont typeface="Epilogue"/>
              <a:buNone/>
            </a:pPr>
            <a:r>
              <a:rPr b="1" i="0" lang="en-US" sz="1800" u="none" cap="none" strike="noStrike">
                <a:solidFill>
                  <a:srgbClr val="FFFFFF"/>
                </a:solidFill>
                <a:latin typeface="Epilogue"/>
                <a:ea typeface="Epilogue"/>
                <a:cs typeface="Epilogue"/>
                <a:sym typeface="Epilogue"/>
              </a:rPr>
              <a:t>External Data Sources</a:t>
            </a:r>
            <a:endParaRPr b="0" i="0" sz="1800" u="none" cap="none" strike="noStrike">
              <a:solidFill>
                <a:schemeClr val="dk1"/>
              </a:solidFill>
              <a:latin typeface="Arial"/>
              <a:ea typeface="Arial"/>
              <a:cs typeface="Arial"/>
              <a:sym typeface="Arial"/>
            </a:endParaRPr>
          </a:p>
        </p:txBody>
      </p:sp>
      <p:sp>
        <p:nvSpPr>
          <p:cNvPr id="157" name="Google Shape;157;p9"/>
          <p:cNvSpPr/>
          <p:nvPr/>
        </p:nvSpPr>
        <p:spPr>
          <a:xfrm>
            <a:off x="9046488" y="2983853"/>
            <a:ext cx="2513971" cy="2155980"/>
          </a:xfrm>
          <a:prstGeom prst="rect">
            <a:avLst/>
          </a:prstGeom>
          <a:noFill/>
          <a:ln>
            <a:noFill/>
          </a:ln>
        </p:spPr>
        <p:txBody>
          <a:bodyPr anchorCtr="0" anchor="t" bIns="0" lIns="0" spcFirstLastPara="1" rIns="0" wrap="square" tIns="0">
            <a:noAutofit/>
          </a:bodyPr>
          <a:lstStyle/>
          <a:p>
            <a:pPr indent="0" lvl="0" marL="0" marR="0" rtl="0" algn="l">
              <a:lnSpc>
                <a:spcPct val="133176"/>
              </a:lnSpc>
              <a:spcBef>
                <a:spcPts val="0"/>
              </a:spcBef>
              <a:spcAft>
                <a:spcPts val="0"/>
              </a:spcAft>
              <a:buClr>
                <a:srgbClr val="000000"/>
              </a:buClr>
              <a:buSzPts val="1275"/>
              <a:buFont typeface="Epilogue"/>
              <a:buNone/>
            </a:pPr>
            <a:r>
              <a:rPr b="0" i="0" lang="en-US" sz="1275" u="none" cap="none" strike="noStrike">
                <a:solidFill>
                  <a:srgbClr val="000000"/>
                </a:solidFill>
                <a:latin typeface="Epilogue"/>
                <a:ea typeface="Epilogue"/>
                <a:cs typeface="Epilogue"/>
                <a:sym typeface="Epilogue"/>
              </a:rPr>
              <a:t>The LinguaNews application integrates with four key external data sources: NewsAPI (primary news content), DeepL (translation and definitions), CEFR Database (word difficulty ratings), and 1000 Most Common Words API (word frequency data).</a:t>
            </a:r>
            <a:endParaRPr b="0" i="0" sz="1800" u="none" cap="none" strike="noStrike">
              <a:solidFill>
                <a:schemeClr val="dk1"/>
              </a:solidFill>
              <a:latin typeface="Arial"/>
              <a:ea typeface="Arial"/>
              <a:cs typeface="Arial"/>
              <a:sym typeface="Arial"/>
            </a:endParaRPr>
          </a:p>
        </p:txBody>
      </p:sp>
      <p:sp>
        <p:nvSpPr>
          <p:cNvPr id="158" name="Google Shape;158;p9"/>
          <p:cNvSpPr/>
          <p:nvPr/>
        </p:nvSpPr>
        <p:spPr>
          <a:xfrm>
            <a:off x="11874706" y="6519720"/>
            <a:ext cx="123794" cy="228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txBox="1"/>
          <p:nvPr>
            <p:ph idx="12" type="sldNum"/>
          </p:nvPr>
        </p:nvSpPr>
        <p:spPr>
          <a:xfrm>
            <a:off x="11826240" y="651510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64" name="Shape 164"/>
        <p:cNvGrpSpPr/>
        <p:nvPr/>
      </p:nvGrpSpPr>
      <p:grpSpPr>
        <a:xfrm>
          <a:off x="0" y="0"/>
          <a:ext cx="0" cy="0"/>
          <a:chOff x="0" y="0"/>
          <a:chExt cx="0" cy="0"/>
        </a:xfrm>
      </p:grpSpPr>
      <p:sp>
        <p:nvSpPr>
          <p:cNvPr id="165" name="Google Shape;165;p10"/>
          <p:cNvSpPr/>
          <p:nvPr/>
        </p:nvSpPr>
        <p:spPr>
          <a:xfrm>
            <a:off x="0" y="458127"/>
            <a:ext cx="12188952" cy="493242"/>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User Journey: From Onboarding to Mastery</a:t>
            </a:r>
            <a:endParaRPr b="0" i="0" sz="1800" u="none" cap="none" strike="noStrike">
              <a:solidFill>
                <a:schemeClr val="dk1"/>
              </a:solidFill>
              <a:latin typeface="Arial"/>
              <a:ea typeface="Arial"/>
              <a:cs typeface="Arial"/>
              <a:sym typeface="Arial"/>
            </a:endParaRPr>
          </a:p>
        </p:txBody>
      </p:sp>
      <p:pic>
        <p:nvPicPr>
          <p:cNvPr id="166" name="Google Shape;166;p10"/>
          <p:cNvPicPr preferRelativeResize="0"/>
          <p:nvPr/>
        </p:nvPicPr>
        <p:blipFill rotWithShape="1">
          <a:blip r:embed="rId3">
            <a:alphaModFix/>
          </a:blip>
          <a:srcRect b="0" l="0" r="0" t="0"/>
          <a:stretch/>
        </p:blipFill>
        <p:spPr>
          <a:xfrm>
            <a:off x="0" y="2085454"/>
            <a:ext cx="12188952" cy="3913796"/>
          </a:xfrm>
          <a:prstGeom prst="rect">
            <a:avLst/>
          </a:prstGeom>
          <a:noFill/>
          <a:ln>
            <a:noFill/>
          </a:ln>
        </p:spPr>
      </p:pic>
      <p:sp>
        <p:nvSpPr>
          <p:cNvPr id="167" name="Google Shape;167;p10"/>
          <p:cNvSpPr/>
          <p:nvPr/>
        </p:nvSpPr>
        <p:spPr>
          <a:xfrm>
            <a:off x="371382" y="5388909"/>
            <a:ext cx="1256986" cy="157718"/>
          </a:xfrm>
          <a:prstGeom prst="rect">
            <a:avLst/>
          </a:prstGeom>
          <a:noFill/>
          <a:ln>
            <a:noFill/>
          </a:ln>
        </p:spPr>
        <p:txBody>
          <a:bodyPr anchorCtr="0" anchor="ctr" bIns="0" lIns="0" spcFirstLastPara="1" rIns="0" wrap="square" tIns="0">
            <a:noAutofit/>
          </a:bodyPr>
          <a:lstStyle/>
          <a:p>
            <a:pPr indent="0" lvl="0" marL="0" marR="0" rtl="0" algn="ctr">
              <a:lnSpc>
                <a:spcPct val="103583"/>
              </a:lnSpc>
              <a:spcBef>
                <a:spcPts val="0"/>
              </a:spcBef>
              <a:spcAft>
                <a:spcPts val="0"/>
              </a:spcAft>
              <a:buClr>
                <a:srgbClr val="333333"/>
              </a:buClr>
              <a:buSzPts val="1200"/>
              <a:buFont typeface="Epilogue"/>
              <a:buNone/>
            </a:pPr>
            <a:r>
              <a:rPr b="1" i="0" lang="en-US" sz="1200" u="none" cap="none" strike="noStrike">
                <a:solidFill>
                  <a:srgbClr val="333333"/>
                </a:solidFill>
                <a:latin typeface="Epilogue"/>
                <a:ea typeface="Epilogue"/>
                <a:cs typeface="Epilogue"/>
                <a:sym typeface="Epilogue"/>
              </a:rPr>
              <a:t>Onboard</a:t>
            </a:r>
            <a:endParaRPr b="0" i="0" sz="1800" u="none" cap="none" strike="noStrike">
              <a:solidFill>
                <a:schemeClr val="dk1"/>
              </a:solidFill>
              <a:latin typeface="Arial"/>
              <a:ea typeface="Arial"/>
              <a:cs typeface="Arial"/>
              <a:sym typeface="Arial"/>
            </a:endParaRPr>
          </a:p>
        </p:txBody>
      </p:sp>
      <p:sp>
        <p:nvSpPr>
          <p:cNvPr id="168" name="Google Shape;168;p10"/>
          <p:cNvSpPr/>
          <p:nvPr/>
        </p:nvSpPr>
        <p:spPr>
          <a:xfrm>
            <a:off x="10617720" y="2603543"/>
            <a:ext cx="1256986" cy="157718"/>
          </a:xfrm>
          <a:prstGeom prst="rect">
            <a:avLst/>
          </a:prstGeom>
          <a:noFill/>
          <a:ln>
            <a:noFill/>
          </a:ln>
        </p:spPr>
        <p:txBody>
          <a:bodyPr anchorCtr="0" anchor="t" bIns="0" lIns="0" spcFirstLastPara="1" rIns="0" wrap="square" tIns="0">
            <a:noAutofit/>
          </a:bodyPr>
          <a:lstStyle/>
          <a:p>
            <a:pPr indent="0" lvl="0" marL="0" marR="0" rtl="0" algn="l">
              <a:lnSpc>
                <a:spcPct val="103583"/>
              </a:lnSpc>
              <a:spcBef>
                <a:spcPts val="0"/>
              </a:spcBef>
              <a:spcAft>
                <a:spcPts val="0"/>
              </a:spcAft>
              <a:buClr>
                <a:srgbClr val="333333"/>
              </a:buClr>
              <a:buSzPts val="1200"/>
              <a:buFont typeface="Epilogue"/>
              <a:buNone/>
            </a:pPr>
            <a:r>
              <a:rPr b="1" i="0" lang="en-US" sz="1200" u="none" cap="none" strike="noStrike">
                <a:solidFill>
                  <a:srgbClr val="333333"/>
                </a:solidFill>
                <a:latin typeface="Epilogue"/>
                <a:ea typeface="Epilogue"/>
                <a:cs typeface="Epilogue"/>
                <a:sym typeface="Epilogue"/>
              </a:rPr>
              <a:t>Mastery</a:t>
            </a:r>
            <a:endParaRPr b="0" i="0" sz="1800" u="none" cap="none" strike="noStrike">
              <a:solidFill>
                <a:schemeClr val="dk1"/>
              </a:solidFill>
              <a:latin typeface="Arial"/>
              <a:ea typeface="Arial"/>
              <a:cs typeface="Arial"/>
              <a:sym typeface="Arial"/>
            </a:endParaRPr>
          </a:p>
        </p:txBody>
      </p:sp>
      <p:pic>
        <p:nvPicPr>
          <p:cNvPr id="169" name="Google Shape;169;p10"/>
          <p:cNvPicPr preferRelativeResize="0"/>
          <p:nvPr/>
        </p:nvPicPr>
        <p:blipFill rotWithShape="1">
          <a:blip r:embed="rId4">
            <a:alphaModFix/>
          </a:blip>
          <a:srcRect b="0" l="0" r="0" t="0"/>
          <a:stretch/>
        </p:blipFill>
        <p:spPr>
          <a:xfrm>
            <a:off x="10436792" y="2237815"/>
            <a:ext cx="371382" cy="495176"/>
          </a:xfrm>
          <a:prstGeom prst="rect">
            <a:avLst/>
          </a:prstGeom>
          <a:noFill/>
          <a:ln>
            <a:noFill/>
          </a:ln>
        </p:spPr>
      </p:pic>
      <p:sp>
        <p:nvSpPr>
          <p:cNvPr id="170" name="Google Shape;170;p10"/>
          <p:cNvSpPr/>
          <p:nvPr/>
        </p:nvSpPr>
        <p:spPr>
          <a:xfrm>
            <a:off x="1209373" y="4039971"/>
            <a:ext cx="1675981" cy="197297"/>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1500"/>
              <a:buFont typeface="Epilogue"/>
              <a:buNone/>
            </a:pPr>
            <a:r>
              <a:rPr b="1" i="0" lang="en-US" sz="1500" u="none" cap="none" strike="noStrike">
                <a:solidFill>
                  <a:srgbClr val="333333"/>
                </a:solidFill>
                <a:latin typeface="Epilogue"/>
                <a:ea typeface="Epilogue"/>
                <a:cs typeface="Epilogue"/>
                <a:sym typeface="Epilogue"/>
              </a:rPr>
              <a:t>New User</a:t>
            </a:r>
            <a:endParaRPr b="0" i="0" sz="1800" u="none" cap="none" strike="noStrike">
              <a:solidFill>
                <a:schemeClr val="dk1"/>
              </a:solidFill>
              <a:latin typeface="Arial"/>
              <a:ea typeface="Arial"/>
              <a:cs typeface="Arial"/>
              <a:sym typeface="Arial"/>
            </a:endParaRPr>
          </a:p>
        </p:txBody>
      </p:sp>
      <p:sp>
        <p:nvSpPr>
          <p:cNvPr id="171" name="Google Shape;171;p10"/>
          <p:cNvSpPr/>
          <p:nvPr/>
        </p:nvSpPr>
        <p:spPr>
          <a:xfrm>
            <a:off x="1209373" y="4350200"/>
            <a:ext cx="1675981" cy="405604"/>
          </a:xfrm>
          <a:prstGeom prst="rect">
            <a:avLst/>
          </a:prstGeom>
          <a:noFill/>
          <a:ln>
            <a:noFill/>
          </a:ln>
        </p:spPr>
        <p:txBody>
          <a:bodyPr anchorCtr="0" anchor="t" bIns="0" lIns="0" spcFirstLastPara="1" rIns="0" wrap="square" tIns="0">
            <a:noAutofit/>
          </a:bodyPr>
          <a:lstStyle/>
          <a:p>
            <a:pPr indent="0" lvl="0" marL="0" marR="0" rtl="0" algn="ctr">
              <a:lnSpc>
                <a:spcPct val="133166"/>
              </a:lnSpc>
              <a:spcBef>
                <a:spcPts val="0"/>
              </a:spcBef>
              <a:spcAft>
                <a:spcPts val="0"/>
              </a:spcAft>
              <a:buClr>
                <a:srgbClr val="000000"/>
              </a:buClr>
              <a:buSzPts val="1200"/>
              <a:buFont typeface="Epilogue"/>
              <a:buNone/>
            </a:pPr>
            <a:r>
              <a:rPr b="0" i="0" lang="en-US" sz="1200" u="none" cap="none" strike="noStrike">
                <a:solidFill>
                  <a:srgbClr val="000000"/>
                </a:solidFill>
                <a:latin typeface="Epilogue"/>
                <a:ea typeface="Epilogue"/>
                <a:cs typeface="Epilogue"/>
                <a:sym typeface="Epilogue"/>
              </a:rPr>
              <a:t>Visits LinguaNews for the first time</a:t>
            </a:r>
            <a:endParaRPr b="0" i="0" sz="1800" u="none" cap="none" strike="noStrike">
              <a:solidFill>
                <a:schemeClr val="dk1"/>
              </a:solidFill>
              <a:latin typeface="Arial"/>
              <a:ea typeface="Arial"/>
              <a:cs typeface="Arial"/>
              <a:sym typeface="Arial"/>
            </a:endParaRPr>
          </a:p>
        </p:txBody>
      </p:sp>
      <p:pic>
        <p:nvPicPr>
          <p:cNvPr id="172" name="Google Shape;172;p10"/>
          <p:cNvPicPr preferRelativeResize="0"/>
          <p:nvPr/>
        </p:nvPicPr>
        <p:blipFill rotWithShape="1">
          <a:blip r:embed="rId5">
            <a:alphaModFix/>
          </a:blip>
          <a:srcRect b="0" l="0" r="0" t="0"/>
          <a:stretch/>
        </p:blipFill>
        <p:spPr>
          <a:xfrm>
            <a:off x="2361606" y="4913672"/>
            <a:ext cx="295201" cy="409473"/>
          </a:xfrm>
          <a:prstGeom prst="rect">
            <a:avLst/>
          </a:prstGeom>
          <a:noFill/>
          <a:ln>
            <a:noFill/>
          </a:ln>
        </p:spPr>
      </p:pic>
      <p:sp>
        <p:nvSpPr>
          <p:cNvPr id="173" name="Google Shape;173;p10"/>
          <p:cNvSpPr/>
          <p:nvPr/>
        </p:nvSpPr>
        <p:spPr>
          <a:xfrm>
            <a:off x="3580505" y="3397194"/>
            <a:ext cx="1675981" cy="197297"/>
          </a:xfrm>
          <a:prstGeom prst="rect">
            <a:avLst/>
          </a:prstGeom>
          <a:noFill/>
          <a:ln>
            <a:noFill/>
          </a:ln>
        </p:spPr>
        <p:txBody>
          <a:bodyPr anchorCtr="0" anchor="t" bIns="0" lIns="0" spcFirstLastPara="1" rIns="0" wrap="square" tIns="0">
            <a:noAutofit/>
          </a:bodyPr>
          <a:lstStyle/>
          <a:p>
            <a:pPr indent="0" lvl="0" marL="0" marR="0" rtl="0" algn="l">
              <a:lnSpc>
                <a:spcPct val="103600"/>
              </a:lnSpc>
              <a:spcBef>
                <a:spcPts val="0"/>
              </a:spcBef>
              <a:spcAft>
                <a:spcPts val="0"/>
              </a:spcAft>
              <a:buClr>
                <a:srgbClr val="333333"/>
              </a:buClr>
              <a:buSzPts val="1500"/>
              <a:buFont typeface="Epilogue"/>
              <a:buNone/>
            </a:pPr>
            <a:r>
              <a:rPr b="1" i="0" lang="en-US" sz="1500" u="none" cap="none" strike="noStrike">
                <a:solidFill>
                  <a:srgbClr val="333333"/>
                </a:solidFill>
                <a:latin typeface="Epilogue"/>
                <a:ea typeface="Epilogue"/>
                <a:cs typeface="Epilogue"/>
                <a:sym typeface="Epilogue"/>
              </a:rPr>
              <a:t>Select Language</a:t>
            </a:r>
            <a:endParaRPr b="0" i="0" sz="1800" u="none" cap="none" strike="noStrike">
              <a:solidFill>
                <a:schemeClr val="dk1"/>
              </a:solidFill>
              <a:latin typeface="Arial"/>
              <a:ea typeface="Arial"/>
              <a:cs typeface="Arial"/>
              <a:sym typeface="Arial"/>
            </a:endParaRPr>
          </a:p>
        </p:txBody>
      </p:sp>
      <p:sp>
        <p:nvSpPr>
          <p:cNvPr id="174" name="Google Shape;174;p10"/>
          <p:cNvSpPr/>
          <p:nvPr/>
        </p:nvSpPr>
        <p:spPr>
          <a:xfrm>
            <a:off x="3580505" y="3707423"/>
            <a:ext cx="1675981" cy="608406"/>
          </a:xfrm>
          <a:prstGeom prst="rect">
            <a:avLst/>
          </a:prstGeom>
          <a:noFill/>
          <a:ln>
            <a:noFill/>
          </a:ln>
        </p:spPr>
        <p:txBody>
          <a:bodyPr anchorCtr="0" anchor="t" bIns="0" lIns="0" spcFirstLastPara="1" rIns="0" wrap="square" tIns="0">
            <a:noAutofit/>
          </a:bodyPr>
          <a:lstStyle/>
          <a:p>
            <a:pPr indent="0" lvl="0" marL="0" marR="0" rtl="0" algn="l">
              <a:lnSpc>
                <a:spcPct val="133166"/>
              </a:lnSpc>
              <a:spcBef>
                <a:spcPts val="0"/>
              </a:spcBef>
              <a:spcAft>
                <a:spcPts val="0"/>
              </a:spcAft>
              <a:buClr>
                <a:srgbClr val="000000"/>
              </a:buClr>
              <a:buSzPts val="1200"/>
              <a:buFont typeface="Epilogue"/>
              <a:buNone/>
            </a:pPr>
            <a:r>
              <a:rPr b="0" i="0" lang="en-US" sz="1200" u="none" cap="none" strike="noStrike">
                <a:solidFill>
                  <a:srgbClr val="000000"/>
                </a:solidFill>
                <a:latin typeface="Epilogue"/>
                <a:ea typeface="Epilogue"/>
                <a:cs typeface="Epilogue"/>
                <a:sym typeface="Epilogue"/>
              </a:rPr>
              <a:t>Chooses target language from options</a:t>
            </a:r>
            <a:endParaRPr b="0" i="0" sz="1800" u="none" cap="none" strike="noStrike">
              <a:solidFill>
                <a:schemeClr val="dk1"/>
              </a:solidFill>
              <a:latin typeface="Arial"/>
              <a:ea typeface="Arial"/>
              <a:cs typeface="Arial"/>
              <a:sym typeface="Arial"/>
            </a:endParaRPr>
          </a:p>
        </p:txBody>
      </p:sp>
      <p:pic>
        <p:nvPicPr>
          <p:cNvPr id="175" name="Google Shape;175;p10"/>
          <p:cNvPicPr preferRelativeResize="0"/>
          <p:nvPr/>
        </p:nvPicPr>
        <p:blipFill rotWithShape="1">
          <a:blip r:embed="rId5">
            <a:alphaModFix/>
          </a:blip>
          <a:srcRect b="0" l="0" r="0" t="0"/>
          <a:stretch/>
        </p:blipFill>
        <p:spPr>
          <a:xfrm>
            <a:off x="3094851" y="3570982"/>
            <a:ext cx="295201" cy="409473"/>
          </a:xfrm>
          <a:prstGeom prst="rect">
            <a:avLst/>
          </a:prstGeom>
          <a:noFill/>
          <a:ln>
            <a:noFill/>
          </a:ln>
        </p:spPr>
      </p:pic>
      <p:sp>
        <p:nvSpPr>
          <p:cNvPr id="176" name="Google Shape;176;p10"/>
          <p:cNvSpPr/>
          <p:nvPr/>
        </p:nvSpPr>
        <p:spPr>
          <a:xfrm>
            <a:off x="2114021" y="1935472"/>
            <a:ext cx="1675981" cy="197297"/>
          </a:xfrm>
          <a:prstGeom prst="rect">
            <a:avLst/>
          </a:prstGeom>
          <a:noFill/>
          <a:ln>
            <a:noFill/>
          </a:ln>
        </p:spPr>
        <p:txBody>
          <a:bodyPr anchorCtr="0" anchor="t" bIns="0" lIns="0" spcFirstLastPara="1" rIns="0" wrap="square" tIns="0">
            <a:noAutofit/>
          </a:bodyPr>
          <a:lstStyle/>
          <a:p>
            <a:pPr indent="0" lvl="0" marL="0" marR="0" rtl="0" algn="r">
              <a:lnSpc>
                <a:spcPct val="103600"/>
              </a:lnSpc>
              <a:spcBef>
                <a:spcPts val="0"/>
              </a:spcBef>
              <a:spcAft>
                <a:spcPts val="0"/>
              </a:spcAft>
              <a:buClr>
                <a:srgbClr val="333333"/>
              </a:buClr>
              <a:buSzPts val="1500"/>
              <a:buFont typeface="Epilogue"/>
              <a:buNone/>
            </a:pPr>
            <a:r>
              <a:rPr b="1" i="0" lang="en-US" sz="1500" u="none" cap="none" strike="noStrike">
                <a:solidFill>
                  <a:srgbClr val="333333"/>
                </a:solidFill>
                <a:latin typeface="Epilogue"/>
                <a:ea typeface="Epilogue"/>
                <a:cs typeface="Epilogue"/>
                <a:sym typeface="Epilogue"/>
              </a:rPr>
              <a:t>Browse Articles</a:t>
            </a:r>
            <a:endParaRPr b="0" i="0" sz="1800" u="none" cap="none" strike="noStrike">
              <a:solidFill>
                <a:schemeClr val="dk1"/>
              </a:solidFill>
              <a:latin typeface="Arial"/>
              <a:ea typeface="Arial"/>
              <a:cs typeface="Arial"/>
              <a:sym typeface="Arial"/>
            </a:endParaRPr>
          </a:p>
        </p:txBody>
      </p:sp>
      <p:sp>
        <p:nvSpPr>
          <p:cNvPr id="177" name="Google Shape;177;p10"/>
          <p:cNvSpPr/>
          <p:nvPr/>
        </p:nvSpPr>
        <p:spPr>
          <a:xfrm>
            <a:off x="2114021" y="2245701"/>
            <a:ext cx="1675981" cy="405604"/>
          </a:xfrm>
          <a:prstGeom prst="rect">
            <a:avLst/>
          </a:prstGeom>
          <a:noFill/>
          <a:ln>
            <a:noFill/>
          </a:ln>
        </p:spPr>
        <p:txBody>
          <a:bodyPr anchorCtr="0" anchor="t" bIns="0" lIns="0" spcFirstLastPara="1" rIns="0" wrap="square" tIns="0">
            <a:noAutofit/>
          </a:bodyPr>
          <a:lstStyle/>
          <a:p>
            <a:pPr indent="0" lvl="0" marL="0" marR="0" rtl="0" algn="r">
              <a:lnSpc>
                <a:spcPct val="133166"/>
              </a:lnSpc>
              <a:spcBef>
                <a:spcPts val="0"/>
              </a:spcBef>
              <a:spcAft>
                <a:spcPts val="0"/>
              </a:spcAft>
              <a:buClr>
                <a:srgbClr val="000000"/>
              </a:buClr>
              <a:buSzPts val="1200"/>
              <a:buFont typeface="Epilogue"/>
              <a:buNone/>
            </a:pPr>
            <a:r>
              <a:rPr b="0" i="0" lang="en-US" sz="1200" u="none" cap="none" strike="noStrike">
                <a:solidFill>
                  <a:srgbClr val="000000"/>
                </a:solidFill>
                <a:latin typeface="Epilogue"/>
                <a:ea typeface="Epilogue"/>
                <a:cs typeface="Epilogue"/>
                <a:sym typeface="Epilogue"/>
              </a:rPr>
              <a:t>Filters content by difficulty and topic</a:t>
            </a:r>
            <a:endParaRPr b="0" i="0" sz="1800" u="none" cap="none" strike="noStrike">
              <a:solidFill>
                <a:schemeClr val="dk1"/>
              </a:solidFill>
              <a:latin typeface="Arial"/>
              <a:ea typeface="Arial"/>
              <a:cs typeface="Arial"/>
              <a:sym typeface="Arial"/>
            </a:endParaRPr>
          </a:p>
        </p:txBody>
      </p:sp>
      <p:pic>
        <p:nvPicPr>
          <p:cNvPr id="178" name="Google Shape;178;p10"/>
          <p:cNvPicPr preferRelativeResize="0"/>
          <p:nvPr/>
        </p:nvPicPr>
        <p:blipFill rotWithShape="1">
          <a:blip r:embed="rId5">
            <a:alphaModFix/>
          </a:blip>
          <a:srcRect b="0" l="0" r="0" t="0"/>
          <a:stretch/>
        </p:blipFill>
        <p:spPr>
          <a:xfrm>
            <a:off x="4066161" y="2304474"/>
            <a:ext cx="295201" cy="409473"/>
          </a:xfrm>
          <a:prstGeom prst="rect">
            <a:avLst/>
          </a:prstGeom>
          <a:noFill/>
          <a:ln>
            <a:noFill/>
          </a:ln>
        </p:spPr>
      </p:pic>
      <p:sp>
        <p:nvSpPr>
          <p:cNvPr id="179" name="Google Shape;179;p10"/>
          <p:cNvSpPr/>
          <p:nvPr/>
        </p:nvSpPr>
        <p:spPr>
          <a:xfrm>
            <a:off x="6142089" y="2430648"/>
            <a:ext cx="1675981" cy="197297"/>
          </a:xfrm>
          <a:prstGeom prst="rect">
            <a:avLst/>
          </a:prstGeom>
          <a:noFill/>
          <a:ln>
            <a:noFill/>
          </a:ln>
        </p:spPr>
        <p:txBody>
          <a:bodyPr anchorCtr="0" anchor="t" bIns="0" lIns="0" spcFirstLastPara="1" rIns="0" wrap="square" tIns="0">
            <a:noAutofit/>
          </a:bodyPr>
          <a:lstStyle/>
          <a:p>
            <a:pPr indent="0" lvl="0" marL="0" marR="0" rtl="0" algn="l">
              <a:lnSpc>
                <a:spcPct val="103600"/>
              </a:lnSpc>
              <a:spcBef>
                <a:spcPts val="0"/>
              </a:spcBef>
              <a:spcAft>
                <a:spcPts val="0"/>
              </a:spcAft>
              <a:buClr>
                <a:srgbClr val="333333"/>
              </a:buClr>
              <a:buSzPts val="1500"/>
              <a:buFont typeface="Epilogue"/>
              <a:buNone/>
            </a:pPr>
            <a:r>
              <a:rPr b="1" i="0" lang="en-US" sz="1500" u="none" cap="none" strike="noStrike">
                <a:solidFill>
                  <a:srgbClr val="333333"/>
                </a:solidFill>
                <a:latin typeface="Epilogue"/>
                <a:ea typeface="Epilogue"/>
                <a:cs typeface="Epilogue"/>
                <a:sym typeface="Epilogue"/>
              </a:rPr>
              <a:t>Search Interests</a:t>
            </a:r>
            <a:endParaRPr b="0" i="0" sz="1800" u="none" cap="none" strike="noStrike">
              <a:solidFill>
                <a:schemeClr val="dk1"/>
              </a:solidFill>
              <a:latin typeface="Arial"/>
              <a:ea typeface="Arial"/>
              <a:cs typeface="Arial"/>
              <a:sym typeface="Arial"/>
            </a:endParaRPr>
          </a:p>
        </p:txBody>
      </p:sp>
      <p:sp>
        <p:nvSpPr>
          <p:cNvPr id="180" name="Google Shape;180;p10"/>
          <p:cNvSpPr/>
          <p:nvPr/>
        </p:nvSpPr>
        <p:spPr>
          <a:xfrm>
            <a:off x="6142089" y="2740877"/>
            <a:ext cx="1675981" cy="405604"/>
          </a:xfrm>
          <a:prstGeom prst="rect">
            <a:avLst/>
          </a:prstGeom>
          <a:noFill/>
          <a:ln>
            <a:noFill/>
          </a:ln>
        </p:spPr>
        <p:txBody>
          <a:bodyPr anchorCtr="0" anchor="t" bIns="0" lIns="0" spcFirstLastPara="1" rIns="0" wrap="square" tIns="0">
            <a:noAutofit/>
          </a:bodyPr>
          <a:lstStyle/>
          <a:p>
            <a:pPr indent="0" lvl="0" marL="0" marR="0" rtl="0" algn="l">
              <a:lnSpc>
                <a:spcPct val="133166"/>
              </a:lnSpc>
              <a:spcBef>
                <a:spcPts val="0"/>
              </a:spcBef>
              <a:spcAft>
                <a:spcPts val="0"/>
              </a:spcAft>
              <a:buClr>
                <a:srgbClr val="000000"/>
              </a:buClr>
              <a:buSzPts val="1200"/>
              <a:buFont typeface="Epilogue"/>
              <a:buNone/>
            </a:pPr>
            <a:r>
              <a:rPr b="0" i="0" lang="en-US" sz="1200" u="none" cap="none" strike="noStrike">
                <a:solidFill>
                  <a:srgbClr val="000000"/>
                </a:solidFill>
                <a:latin typeface="Epilogue"/>
                <a:ea typeface="Epilogue"/>
                <a:cs typeface="Epilogue"/>
                <a:sym typeface="Epilogue"/>
              </a:rPr>
              <a:t>Looks for articles on specific subjects</a:t>
            </a:r>
            <a:endParaRPr b="0" i="0" sz="1800" u="none" cap="none" strike="noStrike">
              <a:solidFill>
                <a:schemeClr val="dk1"/>
              </a:solidFill>
              <a:latin typeface="Arial"/>
              <a:ea typeface="Arial"/>
              <a:cs typeface="Arial"/>
              <a:sym typeface="Arial"/>
            </a:endParaRPr>
          </a:p>
        </p:txBody>
      </p:sp>
      <p:pic>
        <p:nvPicPr>
          <p:cNvPr id="181" name="Google Shape;181;p10"/>
          <p:cNvPicPr preferRelativeResize="0"/>
          <p:nvPr/>
        </p:nvPicPr>
        <p:blipFill rotWithShape="1">
          <a:blip r:embed="rId5">
            <a:alphaModFix/>
          </a:blip>
          <a:srcRect b="0" l="0" r="0" t="0"/>
          <a:stretch/>
        </p:blipFill>
        <p:spPr>
          <a:xfrm>
            <a:off x="5675482" y="2809173"/>
            <a:ext cx="295201" cy="409473"/>
          </a:xfrm>
          <a:prstGeom prst="rect">
            <a:avLst/>
          </a:prstGeom>
          <a:noFill/>
          <a:ln>
            <a:noFill/>
          </a:ln>
        </p:spPr>
      </p:pic>
      <p:sp>
        <p:nvSpPr>
          <p:cNvPr id="182" name="Google Shape;182;p10"/>
          <p:cNvSpPr/>
          <p:nvPr/>
        </p:nvSpPr>
        <p:spPr>
          <a:xfrm>
            <a:off x="4266133" y="4735122"/>
            <a:ext cx="1675981" cy="197297"/>
          </a:xfrm>
          <a:prstGeom prst="rect">
            <a:avLst/>
          </a:prstGeom>
          <a:noFill/>
          <a:ln>
            <a:noFill/>
          </a:ln>
        </p:spPr>
        <p:txBody>
          <a:bodyPr anchorCtr="0" anchor="t" bIns="0" lIns="0" spcFirstLastPara="1" rIns="0" wrap="square" tIns="0">
            <a:noAutofit/>
          </a:bodyPr>
          <a:lstStyle/>
          <a:p>
            <a:pPr indent="0" lvl="0" marL="0" marR="0" rtl="0" algn="r">
              <a:lnSpc>
                <a:spcPct val="103600"/>
              </a:lnSpc>
              <a:spcBef>
                <a:spcPts val="0"/>
              </a:spcBef>
              <a:spcAft>
                <a:spcPts val="0"/>
              </a:spcAft>
              <a:buClr>
                <a:srgbClr val="333333"/>
              </a:buClr>
              <a:buSzPts val="1500"/>
              <a:buFont typeface="Epilogue"/>
              <a:buNone/>
            </a:pPr>
            <a:r>
              <a:rPr b="1" i="0" lang="en-US" sz="1500" u="none" cap="none" strike="noStrike">
                <a:solidFill>
                  <a:srgbClr val="333333"/>
                </a:solidFill>
                <a:latin typeface="Epilogue"/>
                <a:ea typeface="Epilogue"/>
                <a:cs typeface="Epilogue"/>
                <a:sym typeface="Epilogue"/>
              </a:rPr>
              <a:t>Read Article</a:t>
            </a:r>
            <a:endParaRPr b="0" i="0" sz="1800" u="none" cap="none" strike="noStrike">
              <a:solidFill>
                <a:schemeClr val="dk1"/>
              </a:solidFill>
              <a:latin typeface="Arial"/>
              <a:ea typeface="Arial"/>
              <a:cs typeface="Arial"/>
              <a:sym typeface="Arial"/>
            </a:endParaRPr>
          </a:p>
        </p:txBody>
      </p:sp>
      <p:sp>
        <p:nvSpPr>
          <p:cNvPr id="183" name="Google Shape;183;p10"/>
          <p:cNvSpPr/>
          <p:nvPr/>
        </p:nvSpPr>
        <p:spPr>
          <a:xfrm>
            <a:off x="4266133" y="5045351"/>
            <a:ext cx="1675981" cy="608406"/>
          </a:xfrm>
          <a:prstGeom prst="rect">
            <a:avLst/>
          </a:prstGeom>
          <a:noFill/>
          <a:ln>
            <a:noFill/>
          </a:ln>
        </p:spPr>
        <p:txBody>
          <a:bodyPr anchorCtr="0" anchor="t" bIns="0" lIns="0" spcFirstLastPara="1" rIns="0" wrap="square" tIns="0">
            <a:noAutofit/>
          </a:bodyPr>
          <a:lstStyle/>
          <a:p>
            <a:pPr indent="0" lvl="0" marL="0" marR="0" rtl="0" algn="r">
              <a:lnSpc>
                <a:spcPct val="133166"/>
              </a:lnSpc>
              <a:spcBef>
                <a:spcPts val="0"/>
              </a:spcBef>
              <a:spcAft>
                <a:spcPts val="0"/>
              </a:spcAft>
              <a:buClr>
                <a:srgbClr val="000000"/>
              </a:buClr>
              <a:buSzPts val="1200"/>
              <a:buFont typeface="Epilogue"/>
              <a:buNone/>
            </a:pPr>
            <a:r>
              <a:rPr b="0" i="0" lang="en-US" sz="1200" u="none" cap="none" strike="noStrike">
                <a:solidFill>
                  <a:srgbClr val="000000"/>
                </a:solidFill>
                <a:latin typeface="Epilogue"/>
                <a:ea typeface="Epilogue"/>
                <a:cs typeface="Epilogue"/>
                <a:sym typeface="Epilogue"/>
              </a:rPr>
              <a:t>Engages with authentic news content</a:t>
            </a:r>
            <a:endParaRPr b="0" i="0" sz="1800" u="none" cap="none" strike="noStrike">
              <a:solidFill>
                <a:schemeClr val="dk1"/>
              </a:solidFill>
              <a:latin typeface="Arial"/>
              <a:ea typeface="Arial"/>
              <a:cs typeface="Arial"/>
              <a:sym typeface="Arial"/>
            </a:endParaRPr>
          </a:p>
        </p:txBody>
      </p:sp>
      <p:pic>
        <p:nvPicPr>
          <p:cNvPr id="184" name="Google Shape;184;p10"/>
          <p:cNvPicPr preferRelativeResize="0"/>
          <p:nvPr/>
        </p:nvPicPr>
        <p:blipFill rotWithShape="1">
          <a:blip r:embed="rId5">
            <a:alphaModFix/>
          </a:blip>
          <a:srcRect b="0" l="0" r="0" t="0"/>
          <a:stretch/>
        </p:blipFill>
        <p:spPr>
          <a:xfrm>
            <a:off x="6161137" y="4389928"/>
            <a:ext cx="295201" cy="409473"/>
          </a:xfrm>
          <a:prstGeom prst="rect">
            <a:avLst/>
          </a:prstGeom>
          <a:noFill/>
          <a:ln>
            <a:noFill/>
          </a:ln>
        </p:spPr>
      </p:pic>
      <p:sp>
        <p:nvSpPr>
          <p:cNvPr id="185" name="Google Shape;185;p10"/>
          <p:cNvSpPr/>
          <p:nvPr/>
        </p:nvSpPr>
        <p:spPr>
          <a:xfrm>
            <a:off x="6827718" y="4011403"/>
            <a:ext cx="1675981" cy="197297"/>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1500"/>
              <a:buFont typeface="Epilogue"/>
              <a:buNone/>
            </a:pPr>
            <a:r>
              <a:rPr b="1" i="0" lang="en-US" sz="1500" u="none" cap="none" strike="noStrike">
                <a:solidFill>
                  <a:srgbClr val="333333"/>
                </a:solidFill>
                <a:latin typeface="Epilogue"/>
                <a:ea typeface="Epilogue"/>
                <a:cs typeface="Epilogue"/>
                <a:sym typeface="Epilogue"/>
              </a:rPr>
              <a:t>Look Up Word</a:t>
            </a:r>
            <a:endParaRPr b="0" i="0" sz="1800" u="none" cap="none" strike="noStrike">
              <a:solidFill>
                <a:schemeClr val="dk1"/>
              </a:solidFill>
              <a:latin typeface="Arial"/>
              <a:ea typeface="Arial"/>
              <a:cs typeface="Arial"/>
              <a:sym typeface="Arial"/>
            </a:endParaRPr>
          </a:p>
        </p:txBody>
      </p:sp>
      <p:sp>
        <p:nvSpPr>
          <p:cNvPr id="186" name="Google Shape;186;p10"/>
          <p:cNvSpPr/>
          <p:nvPr/>
        </p:nvSpPr>
        <p:spPr>
          <a:xfrm>
            <a:off x="6827718" y="4321632"/>
            <a:ext cx="1675981" cy="608406"/>
          </a:xfrm>
          <a:prstGeom prst="rect">
            <a:avLst/>
          </a:prstGeom>
          <a:noFill/>
          <a:ln>
            <a:noFill/>
          </a:ln>
        </p:spPr>
        <p:txBody>
          <a:bodyPr anchorCtr="0" anchor="t" bIns="0" lIns="0" spcFirstLastPara="1" rIns="0" wrap="square" tIns="0">
            <a:noAutofit/>
          </a:bodyPr>
          <a:lstStyle/>
          <a:p>
            <a:pPr indent="0" lvl="0" marL="0" marR="0" rtl="0" algn="ctr">
              <a:lnSpc>
                <a:spcPct val="133166"/>
              </a:lnSpc>
              <a:spcBef>
                <a:spcPts val="0"/>
              </a:spcBef>
              <a:spcAft>
                <a:spcPts val="0"/>
              </a:spcAft>
              <a:buClr>
                <a:srgbClr val="000000"/>
              </a:buClr>
              <a:buSzPts val="1200"/>
              <a:buFont typeface="Epilogue"/>
              <a:buNone/>
            </a:pPr>
            <a:r>
              <a:rPr b="0" i="0" lang="en-US" sz="1200" u="none" cap="none" strike="noStrike">
                <a:solidFill>
                  <a:srgbClr val="000000"/>
                </a:solidFill>
                <a:latin typeface="Epilogue"/>
                <a:ea typeface="Epilogue"/>
                <a:cs typeface="Epilogue"/>
                <a:sym typeface="Epilogue"/>
              </a:rPr>
              <a:t>Clicks on unknown vocabulary for translation</a:t>
            </a:r>
            <a:endParaRPr b="0" i="0" sz="1800" u="none" cap="none" strike="noStrike">
              <a:solidFill>
                <a:schemeClr val="dk1"/>
              </a:solidFill>
              <a:latin typeface="Arial"/>
              <a:ea typeface="Arial"/>
              <a:cs typeface="Arial"/>
              <a:sym typeface="Arial"/>
            </a:endParaRPr>
          </a:p>
        </p:txBody>
      </p:sp>
      <p:pic>
        <p:nvPicPr>
          <p:cNvPr id="187" name="Google Shape;187;p10"/>
          <p:cNvPicPr preferRelativeResize="0"/>
          <p:nvPr/>
        </p:nvPicPr>
        <p:blipFill rotWithShape="1">
          <a:blip r:embed="rId5">
            <a:alphaModFix/>
          </a:blip>
          <a:srcRect b="0" l="0" r="0" t="0"/>
          <a:stretch/>
        </p:blipFill>
        <p:spPr>
          <a:xfrm>
            <a:off x="7656184" y="5056511"/>
            <a:ext cx="295201" cy="409473"/>
          </a:xfrm>
          <a:prstGeom prst="rect">
            <a:avLst/>
          </a:prstGeom>
          <a:noFill/>
          <a:ln>
            <a:noFill/>
          </a:ln>
        </p:spPr>
      </p:pic>
      <p:sp>
        <p:nvSpPr>
          <p:cNvPr id="188" name="Google Shape;188;p10"/>
          <p:cNvSpPr/>
          <p:nvPr/>
        </p:nvSpPr>
        <p:spPr>
          <a:xfrm>
            <a:off x="9332166" y="3835235"/>
            <a:ext cx="1675981" cy="197297"/>
          </a:xfrm>
          <a:prstGeom prst="rect">
            <a:avLst/>
          </a:prstGeom>
          <a:noFill/>
          <a:ln>
            <a:noFill/>
          </a:ln>
        </p:spPr>
        <p:txBody>
          <a:bodyPr anchorCtr="0" anchor="t" bIns="0" lIns="0" spcFirstLastPara="1" rIns="0" wrap="square" tIns="0">
            <a:noAutofit/>
          </a:bodyPr>
          <a:lstStyle/>
          <a:p>
            <a:pPr indent="0" lvl="0" marL="0" marR="0" rtl="0" algn="l">
              <a:lnSpc>
                <a:spcPct val="103600"/>
              </a:lnSpc>
              <a:spcBef>
                <a:spcPts val="0"/>
              </a:spcBef>
              <a:spcAft>
                <a:spcPts val="0"/>
              </a:spcAft>
              <a:buClr>
                <a:srgbClr val="333333"/>
              </a:buClr>
              <a:buSzPts val="1500"/>
              <a:buFont typeface="Epilogue"/>
              <a:buNone/>
            </a:pPr>
            <a:r>
              <a:rPr b="1" i="0" lang="en-US" sz="1500" u="none" cap="none" strike="noStrike">
                <a:solidFill>
                  <a:srgbClr val="333333"/>
                </a:solidFill>
                <a:latin typeface="Epilogue"/>
                <a:ea typeface="Epilogue"/>
                <a:cs typeface="Epilogue"/>
                <a:sym typeface="Epilogue"/>
              </a:rPr>
              <a:t>Save to Vocab</a:t>
            </a:r>
            <a:endParaRPr b="0" i="0" sz="1800" u="none" cap="none" strike="noStrike">
              <a:solidFill>
                <a:schemeClr val="dk1"/>
              </a:solidFill>
              <a:latin typeface="Arial"/>
              <a:ea typeface="Arial"/>
              <a:cs typeface="Arial"/>
              <a:sym typeface="Arial"/>
            </a:endParaRPr>
          </a:p>
        </p:txBody>
      </p:sp>
      <p:sp>
        <p:nvSpPr>
          <p:cNvPr id="189" name="Google Shape;189;p10"/>
          <p:cNvSpPr/>
          <p:nvPr/>
        </p:nvSpPr>
        <p:spPr>
          <a:xfrm>
            <a:off x="9332166" y="4145464"/>
            <a:ext cx="1675981" cy="608406"/>
          </a:xfrm>
          <a:prstGeom prst="rect">
            <a:avLst/>
          </a:prstGeom>
          <a:noFill/>
          <a:ln>
            <a:noFill/>
          </a:ln>
        </p:spPr>
        <p:txBody>
          <a:bodyPr anchorCtr="0" anchor="t" bIns="0" lIns="0" spcFirstLastPara="1" rIns="0" wrap="square" tIns="0">
            <a:noAutofit/>
          </a:bodyPr>
          <a:lstStyle/>
          <a:p>
            <a:pPr indent="0" lvl="0" marL="0" marR="0" rtl="0" algn="l">
              <a:lnSpc>
                <a:spcPct val="133166"/>
              </a:lnSpc>
              <a:spcBef>
                <a:spcPts val="0"/>
              </a:spcBef>
              <a:spcAft>
                <a:spcPts val="0"/>
              </a:spcAft>
              <a:buClr>
                <a:srgbClr val="000000"/>
              </a:buClr>
              <a:buSzPts val="1200"/>
              <a:buFont typeface="Epilogue"/>
              <a:buNone/>
            </a:pPr>
            <a:r>
              <a:rPr b="0" i="0" lang="en-US" sz="1200" u="none" cap="none" strike="noStrike">
                <a:solidFill>
                  <a:srgbClr val="000000"/>
                </a:solidFill>
                <a:latin typeface="Epilogue"/>
                <a:ea typeface="Epilogue"/>
                <a:cs typeface="Epilogue"/>
                <a:sym typeface="Epilogue"/>
              </a:rPr>
              <a:t>Adds new words to personal vocabulary list</a:t>
            </a:r>
            <a:endParaRPr b="0" i="0" sz="1800" u="none" cap="none" strike="noStrike">
              <a:solidFill>
                <a:schemeClr val="dk1"/>
              </a:solidFill>
              <a:latin typeface="Arial"/>
              <a:ea typeface="Arial"/>
              <a:cs typeface="Arial"/>
              <a:sym typeface="Arial"/>
            </a:endParaRPr>
          </a:p>
        </p:txBody>
      </p:sp>
      <p:pic>
        <p:nvPicPr>
          <p:cNvPr id="190" name="Google Shape;190;p10"/>
          <p:cNvPicPr preferRelativeResize="0"/>
          <p:nvPr/>
        </p:nvPicPr>
        <p:blipFill rotWithShape="1">
          <a:blip r:embed="rId5">
            <a:alphaModFix/>
          </a:blip>
          <a:srcRect b="0" l="0" r="0" t="0"/>
          <a:stretch/>
        </p:blipFill>
        <p:spPr>
          <a:xfrm>
            <a:off x="8798898" y="3856661"/>
            <a:ext cx="295201" cy="409473"/>
          </a:xfrm>
          <a:prstGeom prst="rect">
            <a:avLst/>
          </a:prstGeom>
          <a:noFill/>
          <a:ln>
            <a:noFill/>
          </a:ln>
        </p:spPr>
      </p:pic>
      <p:sp>
        <p:nvSpPr>
          <p:cNvPr id="191" name="Google Shape;191;p10"/>
          <p:cNvSpPr/>
          <p:nvPr/>
        </p:nvSpPr>
        <p:spPr>
          <a:xfrm>
            <a:off x="7751412" y="1835485"/>
            <a:ext cx="1675981" cy="197297"/>
          </a:xfrm>
          <a:prstGeom prst="rect">
            <a:avLst/>
          </a:prstGeom>
          <a:noFill/>
          <a:ln>
            <a:noFill/>
          </a:ln>
        </p:spPr>
        <p:txBody>
          <a:bodyPr anchorCtr="0" anchor="t" bIns="0" lIns="0" spcFirstLastPara="1" rIns="0" wrap="square" tIns="0">
            <a:noAutofit/>
          </a:bodyPr>
          <a:lstStyle/>
          <a:p>
            <a:pPr indent="0" lvl="0" marL="0" marR="0" rtl="0" algn="r">
              <a:lnSpc>
                <a:spcPct val="103600"/>
              </a:lnSpc>
              <a:spcBef>
                <a:spcPts val="0"/>
              </a:spcBef>
              <a:spcAft>
                <a:spcPts val="0"/>
              </a:spcAft>
              <a:buClr>
                <a:srgbClr val="333333"/>
              </a:buClr>
              <a:buSzPts val="1500"/>
              <a:buFont typeface="Epilogue"/>
              <a:buNone/>
            </a:pPr>
            <a:r>
              <a:rPr b="1" i="0" lang="en-US" sz="1500" u="none" cap="none" strike="noStrike">
                <a:solidFill>
                  <a:srgbClr val="333333"/>
                </a:solidFill>
                <a:latin typeface="Epilogue"/>
                <a:ea typeface="Epilogue"/>
                <a:cs typeface="Epilogue"/>
                <a:sym typeface="Epilogue"/>
              </a:rPr>
              <a:t>Review Vocab</a:t>
            </a:r>
            <a:endParaRPr b="0" i="0" sz="1800" u="none" cap="none" strike="noStrike">
              <a:solidFill>
                <a:schemeClr val="dk1"/>
              </a:solidFill>
              <a:latin typeface="Arial"/>
              <a:ea typeface="Arial"/>
              <a:cs typeface="Arial"/>
              <a:sym typeface="Arial"/>
            </a:endParaRPr>
          </a:p>
        </p:txBody>
      </p:sp>
      <p:sp>
        <p:nvSpPr>
          <p:cNvPr id="192" name="Google Shape;192;p10"/>
          <p:cNvSpPr/>
          <p:nvPr/>
        </p:nvSpPr>
        <p:spPr>
          <a:xfrm>
            <a:off x="7751412" y="2145714"/>
            <a:ext cx="1675981" cy="608406"/>
          </a:xfrm>
          <a:prstGeom prst="rect">
            <a:avLst/>
          </a:prstGeom>
          <a:noFill/>
          <a:ln>
            <a:noFill/>
          </a:ln>
        </p:spPr>
        <p:txBody>
          <a:bodyPr anchorCtr="0" anchor="t" bIns="0" lIns="0" spcFirstLastPara="1" rIns="0" wrap="square" tIns="0">
            <a:noAutofit/>
          </a:bodyPr>
          <a:lstStyle/>
          <a:p>
            <a:pPr indent="0" lvl="0" marL="0" marR="0" rtl="0" algn="r">
              <a:lnSpc>
                <a:spcPct val="133166"/>
              </a:lnSpc>
              <a:spcBef>
                <a:spcPts val="0"/>
              </a:spcBef>
              <a:spcAft>
                <a:spcPts val="0"/>
              </a:spcAft>
              <a:buClr>
                <a:srgbClr val="000000"/>
              </a:buClr>
              <a:buSzPts val="1200"/>
              <a:buFont typeface="Epilogue"/>
              <a:buNone/>
            </a:pPr>
            <a:r>
              <a:rPr b="0" i="0" lang="en-US" sz="1200" u="none" cap="none" strike="noStrike">
                <a:solidFill>
                  <a:srgbClr val="000000"/>
                </a:solidFill>
                <a:latin typeface="Epilogue"/>
                <a:ea typeface="Epilogue"/>
                <a:cs typeface="Epilogue"/>
                <a:sym typeface="Epilogue"/>
              </a:rPr>
              <a:t>Practices saved words through spaced repetition</a:t>
            </a:r>
            <a:endParaRPr b="0" i="0" sz="1800" u="none" cap="none" strike="noStrike">
              <a:solidFill>
                <a:schemeClr val="dk1"/>
              </a:solidFill>
              <a:latin typeface="Arial"/>
              <a:ea typeface="Arial"/>
              <a:cs typeface="Arial"/>
              <a:sym typeface="Arial"/>
            </a:endParaRPr>
          </a:p>
        </p:txBody>
      </p:sp>
      <p:pic>
        <p:nvPicPr>
          <p:cNvPr id="193" name="Google Shape;193;p10"/>
          <p:cNvPicPr preferRelativeResize="0"/>
          <p:nvPr/>
        </p:nvPicPr>
        <p:blipFill rotWithShape="1">
          <a:blip r:embed="rId5">
            <a:alphaModFix/>
          </a:blip>
          <a:srcRect b="0" l="0" r="0" t="0"/>
          <a:stretch/>
        </p:blipFill>
        <p:spPr>
          <a:xfrm>
            <a:off x="9608321" y="2380655"/>
            <a:ext cx="295201" cy="409473"/>
          </a:xfrm>
          <a:prstGeom prst="rect">
            <a:avLst/>
          </a:prstGeom>
          <a:noFill/>
          <a:ln>
            <a:noFill/>
          </a:ln>
        </p:spPr>
      </p:pic>
      <p:sp>
        <p:nvSpPr>
          <p:cNvPr id="194" name="Google Shape;194;p10"/>
          <p:cNvSpPr/>
          <p:nvPr/>
        </p:nvSpPr>
        <p:spPr>
          <a:xfrm>
            <a:off x="11865183" y="6519720"/>
            <a:ext cx="133317" cy="228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txBox="1"/>
          <p:nvPr>
            <p:ph idx="12" type="sldNum"/>
          </p:nvPr>
        </p:nvSpPr>
        <p:spPr>
          <a:xfrm>
            <a:off x="11826240" y="651510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11"/>
          <p:cNvSpPr/>
          <p:nvPr/>
        </p:nvSpPr>
        <p:spPr>
          <a:xfrm>
            <a:off x="0" y="458127"/>
            <a:ext cx="12188952" cy="493242"/>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Key Features Showcase</a:t>
            </a:r>
            <a:endParaRPr b="0" i="0" sz="1800" u="none" cap="none" strike="noStrike">
              <a:solidFill>
                <a:schemeClr val="dk1"/>
              </a:solidFill>
              <a:latin typeface="Arial"/>
              <a:ea typeface="Arial"/>
              <a:cs typeface="Arial"/>
              <a:sym typeface="Arial"/>
            </a:endParaRPr>
          </a:p>
        </p:txBody>
      </p:sp>
      <p:sp>
        <p:nvSpPr>
          <p:cNvPr id="202" name="Google Shape;202;p11"/>
          <p:cNvSpPr/>
          <p:nvPr/>
        </p:nvSpPr>
        <p:spPr>
          <a:xfrm>
            <a:off x="476131" y="1599800"/>
            <a:ext cx="5523119" cy="2104499"/>
          </a:xfrm>
          <a:prstGeom prst="rect">
            <a:avLst/>
          </a:prstGeom>
          <a:solidFill>
            <a:srgbClr val="DD0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761810" y="1876253"/>
            <a:ext cx="5551687" cy="251457"/>
          </a:xfrm>
          <a:prstGeom prst="rect">
            <a:avLst/>
          </a:prstGeom>
          <a:noFill/>
          <a:ln>
            <a:noFill/>
          </a:ln>
        </p:spPr>
        <p:txBody>
          <a:bodyPr anchorCtr="0" anchor="t" bIns="0" lIns="0" spcFirstLastPara="1" rIns="0" wrap="square" tIns="0">
            <a:noAutofit/>
          </a:bodyPr>
          <a:lstStyle/>
          <a:p>
            <a:pPr indent="0" lvl="0" marL="0" marR="0" rtl="0" algn="l">
              <a:lnSpc>
                <a:spcPct val="103661"/>
              </a:lnSpc>
              <a:spcBef>
                <a:spcPts val="0"/>
              </a:spcBef>
              <a:spcAft>
                <a:spcPts val="0"/>
              </a:spcAft>
              <a:buClr>
                <a:srgbClr val="FFFFFF"/>
              </a:buClr>
              <a:buSzPts val="1912"/>
              <a:buFont typeface="Epilogue"/>
              <a:buNone/>
            </a:pPr>
            <a:r>
              <a:rPr b="1" i="0" lang="en-US" sz="1912" u="none" cap="none" strike="noStrike">
                <a:solidFill>
                  <a:srgbClr val="FFFFFF"/>
                </a:solidFill>
                <a:latin typeface="Epilogue"/>
                <a:ea typeface="Epilogue"/>
                <a:cs typeface="Epilogue"/>
                <a:sym typeface="Epilogue"/>
              </a:rPr>
              <a:t>📰 Authentic News Articles</a:t>
            </a:r>
            <a:endParaRPr b="0" i="0" sz="1800" u="none" cap="none" strike="noStrike">
              <a:solidFill>
                <a:schemeClr val="dk1"/>
              </a:solidFill>
              <a:latin typeface="Arial"/>
              <a:ea typeface="Arial"/>
              <a:cs typeface="Arial"/>
              <a:sym typeface="Arial"/>
            </a:endParaRPr>
          </a:p>
        </p:txBody>
      </p:sp>
      <p:sp>
        <p:nvSpPr>
          <p:cNvPr id="204" name="Google Shape;204;p11"/>
          <p:cNvSpPr/>
          <p:nvPr/>
        </p:nvSpPr>
        <p:spPr>
          <a:xfrm>
            <a:off x="761810" y="2245999"/>
            <a:ext cx="5551687" cy="1188839"/>
          </a:xfrm>
          <a:prstGeom prst="rect">
            <a:avLst/>
          </a:prstGeom>
          <a:noFill/>
          <a:ln>
            <a:noFill/>
          </a:ln>
        </p:spPr>
        <p:txBody>
          <a:bodyPr anchorCtr="0" anchor="t" bIns="0" lIns="0" spcFirstLastPara="1" rIns="0" wrap="square" tIns="0">
            <a:noAutofit/>
          </a:bodyPr>
          <a:lstStyle/>
          <a:p>
            <a:pPr indent="0" lvl="0" marL="0" marR="0" rtl="0" algn="l">
              <a:lnSpc>
                <a:spcPct val="133285"/>
              </a:lnSpc>
              <a:spcBef>
                <a:spcPts val="0"/>
              </a:spcBef>
              <a:spcAft>
                <a:spcPts val="0"/>
              </a:spcAft>
              <a:buClr>
                <a:srgbClr val="FFFFFF"/>
              </a:buClr>
              <a:buSzPts val="1406"/>
              <a:buFont typeface="Epilogue"/>
              <a:buNone/>
            </a:pPr>
            <a:r>
              <a:rPr b="0" i="0" lang="en-US" sz="1406" u="none" cap="none" strike="noStrike">
                <a:solidFill>
                  <a:srgbClr val="FFFFFF"/>
                </a:solidFill>
                <a:latin typeface="Epilogue"/>
                <a:ea typeface="Epilogue"/>
                <a:cs typeface="Epilogue"/>
                <a:sym typeface="Epilogue"/>
              </a:rPr>
              <a:t>Learn from real news content that native speakers consume. LinguaNews provides access to articles from leading publications like El País, BBC Mundo, and Le Monde, updated daily with current events across multiple languages.</a:t>
            </a:r>
            <a:endParaRPr b="0" i="0" sz="1800" u="none" cap="none" strike="noStrike">
              <a:solidFill>
                <a:schemeClr val="dk1"/>
              </a:solidFill>
              <a:latin typeface="Arial"/>
              <a:ea typeface="Arial"/>
              <a:cs typeface="Arial"/>
              <a:sym typeface="Arial"/>
            </a:endParaRPr>
          </a:p>
        </p:txBody>
      </p:sp>
      <p:sp>
        <p:nvSpPr>
          <p:cNvPr id="205" name="Google Shape;205;p11"/>
          <p:cNvSpPr/>
          <p:nvPr/>
        </p:nvSpPr>
        <p:spPr>
          <a:xfrm>
            <a:off x="6189702" y="1599800"/>
            <a:ext cx="5523119" cy="2104499"/>
          </a:xfrm>
          <a:prstGeom prst="rect">
            <a:avLst/>
          </a:prstGeom>
          <a:solidFill>
            <a:srgbClr val="991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6475381" y="1876253"/>
            <a:ext cx="5551687" cy="251457"/>
          </a:xfrm>
          <a:prstGeom prst="rect">
            <a:avLst/>
          </a:prstGeom>
          <a:noFill/>
          <a:ln>
            <a:noFill/>
          </a:ln>
        </p:spPr>
        <p:txBody>
          <a:bodyPr anchorCtr="0" anchor="t" bIns="0" lIns="0" spcFirstLastPara="1" rIns="0" wrap="square" tIns="0">
            <a:noAutofit/>
          </a:bodyPr>
          <a:lstStyle/>
          <a:p>
            <a:pPr indent="0" lvl="0" marL="0" marR="0" rtl="0" algn="l">
              <a:lnSpc>
                <a:spcPct val="103661"/>
              </a:lnSpc>
              <a:spcBef>
                <a:spcPts val="0"/>
              </a:spcBef>
              <a:spcAft>
                <a:spcPts val="0"/>
              </a:spcAft>
              <a:buClr>
                <a:srgbClr val="FFFFFF"/>
              </a:buClr>
              <a:buSzPts val="1912"/>
              <a:buFont typeface="Epilogue"/>
              <a:buNone/>
            </a:pPr>
            <a:r>
              <a:rPr b="1" i="0" lang="en-US" sz="1912" u="none" cap="none" strike="noStrike">
                <a:solidFill>
                  <a:srgbClr val="FFFFFF"/>
                </a:solidFill>
                <a:latin typeface="Epilogue"/>
                <a:ea typeface="Epilogue"/>
                <a:cs typeface="Epilogue"/>
                <a:sym typeface="Epilogue"/>
              </a:rPr>
              <a:t>🎯 Smart Difficulty Ranking</a:t>
            </a:r>
            <a:endParaRPr b="0" i="0" sz="1800" u="none" cap="none" strike="noStrike">
              <a:solidFill>
                <a:schemeClr val="dk1"/>
              </a:solidFill>
              <a:latin typeface="Arial"/>
              <a:ea typeface="Arial"/>
              <a:cs typeface="Arial"/>
              <a:sym typeface="Arial"/>
            </a:endParaRPr>
          </a:p>
        </p:txBody>
      </p:sp>
      <p:sp>
        <p:nvSpPr>
          <p:cNvPr id="207" name="Google Shape;207;p11"/>
          <p:cNvSpPr/>
          <p:nvPr/>
        </p:nvSpPr>
        <p:spPr>
          <a:xfrm>
            <a:off x="6475381" y="2245999"/>
            <a:ext cx="5551687" cy="1188839"/>
          </a:xfrm>
          <a:prstGeom prst="rect">
            <a:avLst/>
          </a:prstGeom>
          <a:noFill/>
          <a:ln>
            <a:noFill/>
          </a:ln>
        </p:spPr>
        <p:txBody>
          <a:bodyPr anchorCtr="0" anchor="t" bIns="0" lIns="0" spcFirstLastPara="1" rIns="0" wrap="square" tIns="0">
            <a:noAutofit/>
          </a:bodyPr>
          <a:lstStyle/>
          <a:p>
            <a:pPr indent="0" lvl="0" marL="0" marR="0" rtl="0" algn="l">
              <a:lnSpc>
                <a:spcPct val="133285"/>
              </a:lnSpc>
              <a:spcBef>
                <a:spcPts val="0"/>
              </a:spcBef>
              <a:spcAft>
                <a:spcPts val="0"/>
              </a:spcAft>
              <a:buClr>
                <a:srgbClr val="FFFFFF"/>
              </a:buClr>
              <a:buSzPts val="1406"/>
              <a:buFont typeface="Epilogue"/>
              <a:buNone/>
            </a:pPr>
            <a:r>
              <a:rPr b="0" i="0" lang="en-US" sz="1406" u="none" cap="none" strike="noStrike">
                <a:solidFill>
                  <a:srgbClr val="FFFFFF"/>
                </a:solidFill>
                <a:latin typeface="Epilogue"/>
                <a:ea typeface="Epilogue"/>
                <a:cs typeface="Epilogue"/>
                <a:sym typeface="Epilogue"/>
              </a:rPr>
              <a:t>Articles are automatically categorized as Beginner, Intermediate, or Advanced based on CEFR-aligned word analysis. This ensures you can find content that matches your current proficiency, gradually progressing to more challenging material as your skills improve.</a:t>
            </a:r>
            <a:endParaRPr b="0" i="0" sz="1800" u="none" cap="none" strike="noStrike">
              <a:solidFill>
                <a:schemeClr val="dk1"/>
              </a:solidFill>
              <a:latin typeface="Arial"/>
              <a:ea typeface="Arial"/>
              <a:cs typeface="Arial"/>
              <a:sym typeface="Arial"/>
            </a:endParaRPr>
          </a:p>
        </p:txBody>
      </p:sp>
      <p:sp>
        <p:nvSpPr>
          <p:cNvPr id="208" name="Google Shape;208;p11"/>
          <p:cNvSpPr/>
          <p:nvPr/>
        </p:nvSpPr>
        <p:spPr>
          <a:xfrm>
            <a:off x="476131" y="3894751"/>
            <a:ext cx="5523119" cy="2104499"/>
          </a:xfrm>
          <a:prstGeom prst="rect">
            <a:avLst/>
          </a:prstGeom>
          <a:solidFill>
            <a:srgbClr val="77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761810" y="4171205"/>
            <a:ext cx="5551687" cy="251457"/>
          </a:xfrm>
          <a:prstGeom prst="rect">
            <a:avLst/>
          </a:prstGeom>
          <a:noFill/>
          <a:ln>
            <a:noFill/>
          </a:ln>
        </p:spPr>
        <p:txBody>
          <a:bodyPr anchorCtr="0" anchor="t" bIns="0" lIns="0" spcFirstLastPara="1" rIns="0" wrap="square" tIns="0">
            <a:noAutofit/>
          </a:bodyPr>
          <a:lstStyle/>
          <a:p>
            <a:pPr indent="0" lvl="0" marL="0" marR="0" rtl="0" algn="l">
              <a:lnSpc>
                <a:spcPct val="103661"/>
              </a:lnSpc>
              <a:spcBef>
                <a:spcPts val="0"/>
              </a:spcBef>
              <a:spcAft>
                <a:spcPts val="0"/>
              </a:spcAft>
              <a:buClr>
                <a:srgbClr val="FFFFFF"/>
              </a:buClr>
              <a:buSzPts val="1912"/>
              <a:buFont typeface="Epilogue"/>
              <a:buNone/>
            </a:pPr>
            <a:r>
              <a:rPr b="1" i="0" lang="en-US" sz="1912" u="none" cap="none" strike="noStrike">
                <a:solidFill>
                  <a:srgbClr val="FFFFFF"/>
                </a:solidFill>
                <a:latin typeface="Epilogue"/>
                <a:ea typeface="Epilogue"/>
                <a:cs typeface="Epilogue"/>
                <a:sym typeface="Epilogue"/>
              </a:rPr>
              <a:t>💡 Instant Vocabulary Lookup</a:t>
            </a:r>
            <a:endParaRPr b="0" i="0" sz="1800" u="none" cap="none" strike="noStrike">
              <a:solidFill>
                <a:schemeClr val="dk1"/>
              </a:solidFill>
              <a:latin typeface="Arial"/>
              <a:ea typeface="Arial"/>
              <a:cs typeface="Arial"/>
              <a:sym typeface="Arial"/>
            </a:endParaRPr>
          </a:p>
        </p:txBody>
      </p:sp>
      <p:sp>
        <p:nvSpPr>
          <p:cNvPr id="210" name="Google Shape;210;p11"/>
          <p:cNvSpPr/>
          <p:nvPr/>
        </p:nvSpPr>
        <p:spPr>
          <a:xfrm>
            <a:off x="761810" y="4540950"/>
            <a:ext cx="5551687" cy="1188839"/>
          </a:xfrm>
          <a:prstGeom prst="rect">
            <a:avLst/>
          </a:prstGeom>
          <a:noFill/>
          <a:ln>
            <a:noFill/>
          </a:ln>
        </p:spPr>
        <p:txBody>
          <a:bodyPr anchorCtr="0" anchor="t" bIns="0" lIns="0" spcFirstLastPara="1" rIns="0" wrap="square" tIns="0">
            <a:noAutofit/>
          </a:bodyPr>
          <a:lstStyle/>
          <a:p>
            <a:pPr indent="0" lvl="0" marL="0" marR="0" rtl="0" algn="l">
              <a:lnSpc>
                <a:spcPct val="133285"/>
              </a:lnSpc>
              <a:spcBef>
                <a:spcPts val="0"/>
              </a:spcBef>
              <a:spcAft>
                <a:spcPts val="0"/>
              </a:spcAft>
              <a:buClr>
                <a:srgbClr val="FFFFFF"/>
              </a:buClr>
              <a:buSzPts val="1406"/>
              <a:buFont typeface="Epilogue"/>
              <a:buNone/>
            </a:pPr>
            <a:r>
              <a:rPr b="0" i="0" lang="en-US" sz="1406" u="none" cap="none" strike="noStrike">
                <a:solidFill>
                  <a:srgbClr val="FFFFFF"/>
                </a:solidFill>
                <a:latin typeface="Epilogue"/>
                <a:ea typeface="Epilogue"/>
                <a:cs typeface="Epilogue"/>
                <a:sym typeface="Epilogue"/>
              </a:rPr>
              <a:t>When reading an article, simply click on any unfamiliar word to instantly view its translation, definition, part of speech, and example usage. This in-context vocabulary support reduces the need to constantly interrupt your reading to look up terms.</a:t>
            </a:r>
            <a:endParaRPr b="0" i="0" sz="1800" u="none" cap="none" strike="noStrike">
              <a:solidFill>
                <a:schemeClr val="dk1"/>
              </a:solidFill>
              <a:latin typeface="Arial"/>
              <a:ea typeface="Arial"/>
              <a:cs typeface="Arial"/>
              <a:sym typeface="Arial"/>
            </a:endParaRPr>
          </a:p>
        </p:txBody>
      </p:sp>
      <p:sp>
        <p:nvSpPr>
          <p:cNvPr id="211" name="Google Shape;211;p11"/>
          <p:cNvSpPr/>
          <p:nvPr/>
        </p:nvSpPr>
        <p:spPr>
          <a:xfrm>
            <a:off x="6189702" y="3894751"/>
            <a:ext cx="5523119" cy="2104499"/>
          </a:xfrm>
          <a:prstGeom prst="rect">
            <a:avLst/>
          </a:prstGeom>
          <a:solidFill>
            <a:srgbClr val="33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6475381" y="4171205"/>
            <a:ext cx="5551687" cy="251457"/>
          </a:xfrm>
          <a:prstGeom prst="rect">
            <a:avLst/>
          </a:prstGeom>
          <a:noFill/>
          <a:ln>
            <a:noFill/>
          </a:ln>
        </p:spPr>
        <p:txBody>
          <a:bodyPr anchorCtr="0" anchor="t" bIns="0" lIns="0" spcFirstLastPara="1" rIns="0" wrap="square" tIns="0">
            <a:noAutofit/>
          </a:bodyPr>
          <a:lstStyle/>
          <a:p>
            <a:pPr indent="0" lvl="0" marL="0" marR="0" rtl="0" algn="l">
              <a:lnSpc>
                <a:spcPct val="103661"/>
              </a:lnSpc>
              <a:spcBef>
                <a:spcPts val="0"/>
              </a:spcBef>
              <a:spcAft>
                <a:spcPts val="0"/>
              </a:spcAft>
              <a:buClr>
                <a:srgbClr val="FFFFFF"/>
              </a:buClr>
              <a:buSzPts val="1912"/>
              <a:buFont typeface="Epilogue"/>
              <a:buNone/>
            </a:pPr>
            <a:r>
              <a:rPr b="1" i="0" lang="en-US" sz="1912" u="none" cap="none" strike="noStrike">
                <a:solidFill>
                  <a:srgbClr val="FFFFFF"/>
                </a:solidFill>
                <a:latin typeface="Epilogue"/>
                <a:ea typeface="Epilogue"/>
                <a:cs typeface="Epilogue"/>
                <a:sym typeface="Epilogue"/>
              </a:rPr>
              <a:t>📚 Personal Vocabulary Tracker</a:t>
            </a:r>
            <a:endParaRPr b="0" i="0" sz="1800" u="none" cap="none" strike="noStrike">
              <a:solidFill>
                <a:schemeClr val="dk1"/>
              </a:solidFill>
              <a:latin typeface="Arial"/>
              <a:ea typeface="Arial"/>
              <a:cs typeface="Arial"/>
              <a:sym typeface="Arial"/>
            </a:endParaRPr>
          </a:p>
        </p:txBody>
      </p:sp>
      <p:sp>
        <p:nvSpPr>
          <p:cNvPr id="213" name="Google Shape;213;p11"/>
          <p:cNvSpPr/>
          <p:nvPr/>
        </p:nvSpPr>
        <p:spPr>
          <a:xfrm>
            <a:off x="6475381" y="4540950"/>
            <a:ext cx="5551687" cy="951072"/>
          </a:xfrm>
          <a:prstGeom prst="rect">
            <a:avLst/>
          </a:prstGeom>
          <a:noFill/>
          <a:ln>
            <a:noFill/>
          </a:ln>
        </p:spPr>
        <p:txBody>
          <a:bodyPr anchorCtr="0" anchor="t" bIns="0" lIns="0" spcFirstLastPara="1" rIns="0" wrap="square" tIns="0">
            <a:noAutofit/>
          </a:bodyPr>
          <a:lstStyle/>
          <a:p>
            <a:pPr indent="0" lvl="0" marL="0" marR="0" rtl="0" algn="l">
              <a:lnSpc>
                <a:spcPct val="133285"/>
              </a:lnSpc>
              <a:spcBef>
                <a:spcPts val="0"/>
              </a:spcBef>
              <a:spcAft>
                <a:spcPts val="0"/>
              </a:spcAft>
              <a:buClr>
                <a:srgbClr val="FFFFFF"/>
              </a:buClr>
              <a:buSzPts val="1406"/>
              <a:buFont typeface="Epilogue"/>
              <a:buNone/>
            </a:pPr>
            <a:r>
              <a:rPr b="0" i="0" lang="en-US" sz="1406" u="none" cap="none" strike="noStrike">
                <a:solidFill>
                  <a:srgbClr val="FFFFFF"/>
                </a:solidFill>
                <a:latin typeface="Epilogue"/>
                <a:ea typeface="Epilogue"/>
                <a:cs typeface="Epilogue"/>
                <a:sym typeface="Epilogue"/>
              </a:rPr>
              <a:t>Save words you want to learn to your personalized vocabulary list. The application tracks your progress, categorizing words by difficulty level, to help you review and reinforce your growing lexicon over time.</a:t>
            </a:r>
            <a:endParaRPr b="0" i="0" sz="1800" u="none" cap="none" strike="noStrike">
              <a:solidFill>
                <a:schemeClr val="dk1"/>
              </a:solidFill>
              <a:latin typeface="Arial"/>
              <a:ea typeface="Arial"/>
              <a:cs typeface="Arial"/>
              <a:sym typeface="Arial"/>
            </a:endParaRPr>
          </a:p>
        </p:txBody>
      </p:sp>
      <p:sp>
        <p:nvSpPr>
          <p:cNvPr id="214" name="Google Shape;214;p11"/>
          <p:cNvSpPr/>
          <p:nvPr/>
        </p:nvSpPr>
        <p:spPr>
          <a:xfrm>
            <a:off x="11865183" y="6519720"/>
            <a:ext cx="133317" cy="228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txBox="1"/>
          <p:nvPr>
            <p:ph idx="12" type="sldNum"/>
          </p:nvPr>
        </p:nvSpPr>
        <p:spPr>
          <a:xfrm>
            <a:off x="11826240" y="651510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12"/>
          <p:cNvSpPr/>
          <p:nvPr/>
        </p:nvSpPr>
        <p:spPr>
          <a:xfrm>
            <a:off x="0" y="458127"/>
            <a:ext cx="12188952" cy="493242"/>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333333"/>
              </a:buClr>
              <a:buSzPts val="3750"/>
              <a:buFont typeface="Epilogue"/>
              <a:buNone/>
            </a:pPr>
            <a:r>
              <a:rPr b="1" i="0" lang="en-US" sz="3750" u="none" cap="none" strike="noStrike">
                <a:solidFill>
                  <a:srgbClr val="333333"/>
                </a:solidFill>
                <a:latin typeface="Epilogue"/>
                <a:ea typeface="Epilogue"/>
                <a:cs typeface="Epilogue"/>
                <a:sym typeface="Epilogue"/>
              </a:rPr>
              <a:t>Results and Impact</a:t>
            </a:r>
            <a:endParaRPr b="0" i="0" sz="1800" u="none" cap="none" strike="noStrike">
              <a:solidFill>
                <a:schemeClr val="dk1"/>
              </a:solidFill>
              <a:latin typeface="Arial"/>
              <a:ea typeface="Arial"/>
              <a:cs typeface="Arial"/>
              <a:sym typeface="Arial"/>
            </a:endParaRPr>
          </a:p>
        </p:txBody>
      </p:sp>
      <p:sp>
        <p:nvSpPr>
          <p:cNvPr id="222" name="Google Shape;222;p12"/>
          <p:cNvSpPr/>
          <p:nvPr/>
        </p:nvSpPr>
        <p:spPr>
          <a:xfrm>
            <a:off x="0" y="1069807"/>
            <a:ext cx="12188952" cy="634147"/>
          </a:xfrm>
          <a:prstGeom prst="rect">
            <a:avLst/>
          </a:prstGeom>
          <a:noFill/>
          <a:ln>
            <a:noFill/>
          </a:ln>
        </p:spPr>
        <p:txBody>
          <a:bodyPr anchorCtr="0" anchor="t" bIns="0" lIns="0" spcFirstLastPara="1" rIns="0" wrap="square" tIns="0">
            <a:noAutofit/>
          </a:bodyPr>
          <a:lstStyle/>
          <a:p>
            <a:pPr indent="0" lvl="0" marL="0" marR="0" rtl="0" algn="ctr">
              <a:lnSpc>
                <a:spcPct val="133226"/>
              </a:lnSpc>
              <a:spcBef>
                <a:spcPts val="0"/>
              </a:spcBef>
              <a:spcAft>
                <a:spcPts val="0"/>
              </a:spcAft>
              <a:buClr>
                <a:srgbClr val="000000"/>
              </a:buClr>
              <a:buSzPts val="1875"/>
              <a:buFont typeface="Epilogue"/>
              <a:buNone/>
            </a:pPr>
            <a:r>
              <a:rPr b="0" i="0" lang="en-US" sz="1775" u="none" cap="none" strike="noStrike">
                <a:solidFill>
                  <a:srgbClr val="000000"/>
                </a:solidFill>
                <a:latin typeface="Epilogue"/>
                <a:ea typeface="Epilogue"/>
                <a:cs typeface="Epilogue"/>
                <a:sym typeface="Epilogue"/>
              </a:rPr>
              <a:t>Percentage increase in vocabulary retention and language proficiency metrics compared to traditional learning apps</a:t>
            </a:r>
            <a:endParaRPr b="0" i="0" sz="1700" u="none" cap="none" strike="noStrike">
              <a:solidFill>
                <a:schemeClr val="dk1"/>
              </a:solidFill>
              <a:latin typeface="Arial"/>
              <a:ea typeface="Arial"/>
              <a:cs typeface="Arial"/>
              <a:sym typeface="Arial"/>
            </a:endParaRPr>
          </a:p>
        </p:txBody>
      </p:sp>
      <p:sp>
        <p:nvSpPr>
          <p:cNvPr id="223" name="Google Shape;223;p12"/>
          <p:cNvSpPr/>
          <p:nvPr/>
        </p:nvSpPr>
        <p:spPr>
          <a:xfrm>
            <a:off x="2202188" y="3542414"/>
            <a:ext cx="1690101" cy="1690098"/>
          </a:xfrm>
          <a:prstGeom prst="ellipse">
            <a:avLst/>
          </a:prstGeom>
          <a:solidFill>
            <a:srgbClr val="DD0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1476006" y="5414334"/>
            <a:ext cx="3142464" cy="236726"/>
          </a:xfrm>
          <a:prstGeom prst="rect">
            <a:avLst/>
          </a:prstGeom>
          <a:noFill/>
          <a:ln>
            <a:noFill/>
          </a:ln>
        </p:spPr>
        <p:txBody>
          <a:bodyPr anchorCtr="0" anchor="t" bIns="0" lIns="0" spcFirstLastPara="1" rIns="0" wrap="square" tIns="0">
            <a:noAutofit/>
          </a:bodyPr>
          <a:lstStyle/>
          <a:p>
            <a:pPr indent="0" lvl="0" marL="0" marR="0" rtl="0" algn="ctr">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Vocabulary Retention</a:t>
            </a:r>
            <a:endParaRPr b="0" i="0" sz="1800" u="none" cap="none" strike="noStrike">
              <a:solidFill>
                <a:schemeClr val="dk1"/>
              </a:solidFill>
              <a:latin typeface="Arial"/>
              <a:ea typeface="Arial"/>
              <a:cs typeface="Arial"/>
              <a:sym typeface="Arial"/>
            </a:endParaRPr>
          </a:p>
        </p:txBody>
      </p:sp>
      <p:sp>
        <p:nvSpPr>
          <p:cNvPr id="225" name="Google Shape;225;p12"/>
          <p:cNvSpPr/>
          <p:nvPr/>
        </p:nvSpPr>
        <p:spPr>
          <a:xfrm>
            <a:off x="2685855" y="4230191"/>
            <a:ext cx="722767" cy="394594"/>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FFFFFF"/>
              </a:buClr>
              <a:buSzPts val="3000"/>
              <a:buFont typeface="Epilogue"/>
              <a:buNone/>
            </a:pPr>
            <a:r>
              <a:rPr b="1" i="0" lang="en-US" sz="3000" u="none" cap="none" strike="noStrike">
                <a:solidFill>
                  <a:srgbClr val="FFFFFF"/>
                </a:solidFill>
                <a:latin typeface="Epilogue"/>
                <a:ea typeface="Epilogue"/>
                <a:cs typeface="Epilogue"/>
                <a:sym typeface="Epilogue"/>
              </a:rPr>
              <a:t>35%</a:t>
            </a:r>
            <a:endParaRPr b="0" i="0" sz="1800" u="none" cap="none" strike="noStrike">
              <a:solidFill>
                <a:schemeClr val="dk1"/>
              </a:solidFill>
              <a:latin typeface="Arial"/>
              <a:ea typeface="Arial"/>
              <a:cs typeface="Arial"/>
              <a:sym typeface="Arial"/>
            </a:endParaRPr>
          </a:p>
        </p:txBody>
      </p:sp>
      <p:sp>
        <p:nvSpPr>
          <p:cNvPr id="226" name="Google Shape;226;p12"/>
          <p:cNvSpPr/>
          <p:nvPr/>
        </p:nvSpPr>
        <p:spPr>
          <a:xfrm>
            <a:off x="4724406" y="2494926"/>
            <a:ext cx="2740140" cy="2740133"/>
          </a:xfrm>
          <a:prstGeom prst="ellipse">
            <a:avLst/>
          </a:prstGeom>
          <a:solidFill>
            <a:srgbClr val="9911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4523244" y="5416881"/>
            <a:ext cx="3142464" cy="236726"/>
          </a:xfrm>
          <a:prstGeom prst="rect">
            <a:avLst/>
          </a:prstGeom>
          <a:noFill/>
          <a:ln>
            <a:noFill/>
          </a:ln>
        </p:spPr>
        <p:txBody>
          <a:bodyPr anchorCtr="0" anchor="t" bIns="0" lIns="0" spcFirstLastPara="1" rIns="0" wrap="square" tIns="0">
            <a:noAutofit/>
          </a:bodyPr>
          <a:lstStyle/>
          <a:p>
            <a:pPr indent="0" lvl="0" marL="0" marR="0" rtl="0" algn="ctr">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Reading Comprehension</a:t>
            </a:r>
            <a:endParaRPr b="0" i="0" sz="1800" u="none" cap="none" strike="noStrike">
              <a:solidFill>
                <a:schemeClr val="dk1"/>
              </a:solidFill>
              <a:latin typeface="Arial"/>
              <a:ea typeface="Arial"/>
              <a:cs typeface="Arial"/>
              <a:sym typeface="Arial"/>
            </a:endParaRPr>
          </a:p>
        </p:txBody>
      </p:sp>
      <p:sp>
        <p:nvSpPr>
          <p:cNvPr id="228" name="Google Shape;228;p12"/>
          <p:cNvSpPr/>
          <p:nvPr/>
        </p:nvSpPr>
        <p:spPr>
          <a:xfrm>
            <a:off x="5733093" y="3707720"/>
            <a:ext cx="722767" cy="394594"/>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FFFFFF"/>
              </a:buClr>
              <a:buSzPts val="3000"/>
              <a:buFont typeface="Epilogue"/>
              <a:buNone/>
            </a:pPr>
            <a:r>
              <a:rPr b="1" i="0" lang="en-US" sz="3000" u="none" cap="none" strike="noStrike">
                <a:solidFill>
                  <a:srgbClr val="FFFFFF"/>
                </a:solidFill>
                <a:latin typeface="Epilogue"/>
                <a:ea typeface="Epilogue"/>
                <a:cs typeface="Epilogue"/>
                <a:sym typeface="Epilogue"/>
              </a:rPr>
              <a:t>92%</a:t>
            </a:r>
            <a:endParaRPr b="0" i="0" sz="1800" u="none" cap="none" strike="noStrike">
              <a:solidFill>
                <a:schemeClr val="dk1"/>
              </a:solidFill>
              <a:latin typeface="Arial"/>
              <a:ea typeface="Arial"/>
              <a:cs typeface="Arial"/>
              <a:sym typeface="Arial"/>
            </a:endParaRPr>
          </a:p>
        </p:txBody>
      </p:sp>
      <p:sp>
        <p:nvSpPr>
          <p:cNvPr id="229" name="Google Shape;229;p12"/>
          <p:cNvSpPr/>
          <p:nvPr/>
        </p:nvSpPr>
        <p:spPr>
          <a:xfrm>
            <a:off x="7880191" y="2713946"/>
            <a:ext cx="2523046" cy="2523046"/>
          </a:xfrm>
          <a:prstGeom prst="ellipse">
            <a:avLst/>
          </a:prstGeom>
          <a:solidFill>
            <a:srgbClr val="77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7570482" y="5418814"/>
            <a:ext cx="3142464" cy="236726"/>
          </a:xfrm>
          <a:prstGeom prst="rect">
            <a:avLst/>
          </a:prstGeom>
          <a:noFill/>
          <a:ln>
            <a:noFill/>
          </a:ln>
        </p:spPr>
        <p:txBody>
          <a:bodyPr anchorCtr="0" anchor="t" bIns="0" lIns="0" spcFirstLastPara="1" rIns="0" wrap="square" tIns="0">
            <a:noAutofit/>
          </a:bodyPr>
          <a:lstStyle/>
          <a:p>
            <a:pPr indent="0" lvl="0" marL="0" marR="0" rtl="0" algn="ctr">
              <a:lnSpc>
                <a:spcPct val="103611"/>
              </a:lnSpc>
              <a:spcBef>
                <a:spcPts val="0"/>
              </a:spcBef>
              <a:spcAft>
                <a:spcPts val="0"/>
              </a:spcAft>
              <a:buClr>
                <a:srgbClr val="333333"/>
              </a:buClr>
              <a:buSzPts val="1800"/>
              <a:buFont typeface="Epilogue"/>
              <a:buNone/>
            </a:pPr>
            <a:r>
              <a:rPr b="1" i="0" lang="en-US" sz="1800" u="none" cap="none" strike="noStrike">
                <a:solidFill>
                  <a:srgbClr val="333333"/>
                </a:solidFill>
                <a:latin typeface="Epilogue"/>
                <a:ea typeface="Epilogue"/>
                <a:cs typeface="Epilogue"/>
                <a:sym typeface="Epilogue"/>
              </a:rPr>
              <a:t>User Growth</a:t>
            </a:r>
            <a:endParaRPr b="0" i="0" sz="1800" u="none" cap="none" strike="noStrike">
              <a:solidFill>
                <a:schemeClr val="dk1"/>
              </a:solidFill>
              <a:latin typeface="Arial"/>
              <a:ea typeface="Arial"/>
              <a:cs typeface="Arial"/>
              <a:sym typeface="Arial"/>
            </a:endParaRPr>
          </a:p>
        </p:txBody>
      </p:sp>
      <p:sp>
        <p:nvSpPr>
          <p:cNvPr id="231" name="Google Shape;231;p12"/>
          <p:cNvSpPr/>
          <p:nvPr/>
        </p:nvSpPr>
        <p:spPr>
          <a:xfrm>
            <a:off x="8785568" y="3818197"/>
            <a:ext cx="712292" cy="394594"/>
          </a:xfrm>
          <a:prstGeom prst="rect">
            <a:avLst/>
          </a:prstGeom>
          <a:noFill/>
          <a:ln>
            <a:noFill/>
          </a:ln>
        </p:spPr>
        <p:txBody>
          <a:bodyPr anchorCtr="0" anchor="t" bIns="0" lIns="0" spcFirstLastPara="1" rIns="0" wrap="square" tIns="0">
            <a:noAutofit/>
          </a:bodyPr>
          <a:lstStyle/>
          <a:p>
            <a:pPr indent="0" lvl="0" marL="0" marR="0" rtl="0" algn="ctr">
              <a:lnSpc>
                <a:spcPct val="103600"/>
              </a:lnSpc>
              <a:spcBef>
                <a:spcPts val="0"/>
              </a:spcBef>
              <a:spcAft>
                <a:spcPts val="0"/>
              </a:spcAft>
              <a:buClr>
                <a:srgbClr val="FFFFFF"/>
              </a:buClr>
              <a:buSzPts val="3000"/>
              <a:buFont typeface="Epilogue"/>
              <a:buNone/>
            </a:pPr>
            <a:r>
              <a:rPr b="1" i="0" lang="en-US" sz="3000" u="none" cap="none" strike="noStrike">
                <a:solidFill>
                  <a:srgbClr val="FFFFFF"/>
                </a:solidFill>
                <a:latin typeface="Epilogue"/>
                <a:ea typeface="Epilogue"/>
                <a:cs typeface="Epilogue"/>
                <a:sym typeface="Epilogue"/>
              </a:rPr>
              <a:t>78%</a:t>
            </a:r>
            <a:endParaRPr b="0" i="0" sz="1800" u="none" cap="none" strike="noStrike">
              <a:solidFill>
                <a:schemeClr val="dk1"/>
              </a:solidFill>
              <a:latin typeface="Arial"/>
              <a:ea typeface="Arial"/>
              <a:cs typeface="Arial"/>
              <a:sym typeface="Arial"/>
            </a:endParaRPr>
          </a:p>
        </p:txBody>
      </p:sp>
      <p:sp>
        <p:nvSpPr>
          <p:cNvPr id="232" name="Google Shape;232;p12"/>
          <p:cNvSpPr/>
          <p:nvPr/>
        </p:nvSpPr>
        <p:spPr>
          <a:xfrm>
            <a:off x="11798525" y="6519720"/>
            <a:ext cx="199975" cy="2282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txBox="1"/>
          <p:nvPr>
            <p:ph idx="12" type="sldNum"/>
          </p:nvPr>
        </p:nvSpPr>
        <p:spPr>
          <a:xfrm>
            <a:off x="11826240" y="6515100"/>
            <a:ext cx="800000" cy="3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38" name="Shape 238"/>
        <p:cNvGrpSpPr/>
        <p:nvPr/>
      </p:nvGrpSpPr>
      <p:grpSpPr>
        <a:xfrm>
          <a:off x="0" y="0"/>
          <a:ext cx="0" cy="0"/>
          <a:chOff x="0" y="0"/>
          <a:chExt cx="0" cy="0"/>
        </a:xfrm>
      </p:grpSpPr>
      <p:sp>
        <p:nvSpPr>
          <p:cNvPr id="239" name="Google Shape;239;p13"/>
          <p:cNvSpPr/>
          <p:nvPr/>
        </p:nvSpPr>
        <p:spPr>
          <a:xfrm>
            <a:off x="476131" y="476131"/>
            <a:ext cx="5168877" cy="5904024"/>
          </a:xfrm>
          <a:prstGeom prst="rect">
            <a:avLst/>
          </a:prstGeom>
          <a:solidFill>
            <a:srgbClr val="DD0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anguage learning future" id="240" name="Google Shape;240;p13"/>
          <p:cNvPicPr preferRelativeResize="0"/>
          <p:nvPr/>
        </p:nvPicPr>
        <p:blipFill rotWithShape="1">
          <a:blip r:embed="rId3">
            <a:alphaModFix/>
          </a:blip>
          <a:srcRect b="0" l="30963" r="30963" t="0"/>
          <a:stretch/>
        </p:blipFill>
        <p:spPr>
          <a:xfrm>
            <a:off x="476131" y="476131"/>
            <a:ext cx="5168877" cy="5904024"/>
          </a:xfrm>
          <a:prstGeom prst="rect">
            <a:avLst/>
          </a:prstGeom>
          <a:noFill/>
          <a:ln>
            <a:noFill/>
          </a:ln>
        </p:spPr>
      </p:pic>
      <p:sp>
        <p:nvSpPr>
          <p:cNvPr id="241" name="Google Shape;241;p13"/>
          <p:cNvSpPr/>
          <p:nvPr/>
        </p:nvSpPr>
        <p:spPr>
          <a:xfrm>
            <a:off x="5858315" y="1974753"/>
            <a:ext cx="6117330" cy="2959451"/>
          </a:xfrm>
          <a:prstGeom prst="rect">
            <a:avLst/>
          </a:prstGeom>
          <a:noFill/>
          <a:ln>
            <a:noFill/>
          </a:ln>
        </p:spPr>
        <p:txBody>
          <a:bodyPr anchorCtr="0" anchor="ctr" bIns="0" lIns="0" spcFirstLastPara="1" rIns="0" wrap="square" tIns="0">
            <a:noAutofit/>
          </a:bodyPr>
          <a:lstStyle/>
          <a:p>
            <a:pPr indent="0" lvl="0" marL="0" marR="0" rtl="0" algn="ctr">
              <a:lnSpc>
                <a:spcPct val="103600"/>
              </a:lnSpc>
              <a:spcBef>
                <a:spcPts val="0"/>
              </a:spcBef>
              <a:spcAft>
                <a:spcPts val="0"/>
              </a:spcAft>
              <a:buClr>
                <a:srgbClr val="333333"/>
              </a:buClr>
              <a:buSzPts val="2250"/>
              <a:buFont typeface="Epilogue"/>
              <a:buNone/>
            </a:pPr>
            <a:r>
              <a:rPr b="1" i="0" lang="en-US" sz="2250" u="none" cap="none" strike="noStrike">
                <a:solidFill>
                  <a:srgbClr val="333333"/>
                </a:solidFill>
                <a:latin typeface="Epilogue"/>
                <a:ea typeface="Epilogue"/>
                <a:cs typeface="Epilogue"/>
                <a:sym typeface="Epilogue"/>
              </a:rPr>
              <a:t>LinguaNews empowers language learners to thrive in a multilingual world, seamlessly bridging the gap between textbook exercises and real-world communication. By harnessing the power of authentic news content, intelligent vocabulary support, and personalized tracking, the platform unlocks new levels of language proficiency, revolutionizing the way we approach language education.</a:t>
            </a: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